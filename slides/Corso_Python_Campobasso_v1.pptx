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Slide di apertura del corso.</a:t>
            </a:r>
          </a:p>
          <a:p/>
          <a:p>
            <a:r>
              <a:t>⏱️ TIMING:</a:t>
            </a:r>
          </a:p>
          <a:p>
            <a:r>
              <a:t>10 Minuti</a:t>
            </a:r>
          </a:p>
          <a:p/>
          <a:p>
            <a:r>
              <a:t>📘 GUIDA DOCENTE:</a:t>
            </a:r>
          </a:p>
          <a:p>
            <a:r>
              <a:t>Slide di apertura del corso. Presentare gli obiettivi professionalizzanti, il valore di Python per superare i limiti di Excel e la metodologia pratica al 100%.</a:t>
            </a:r>
          </a:p>
          <a:p/>
          <a:p>
            <a:r>
              <a:t>💻 DEMO / LABORATORIO:</a:t>
            </a:r>
          </a:p>
          <a:p>
            <a:r>
              <a:t>Chiedere agli studenti quali strumenti utilizzano attualmente in azienda (Excel, PowerBI, SQL, gestionali) e quali colli di bottiglia riscontrano quotidianamente.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l'elaborazione dati più lunga o ripetitiva che svolgete settimanalmente al lavoro?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continuità del caso di studio su tutto il percorso formativo.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continuità del caso di studio su tutto il percorso formativo.</a:t>
            </a:r>
          </a:p>
          <a:p/>
          <a:p>
            <a:r>
              <a:t>💻 DEMO / LABORATORIO:</a:t>
            </a:r>
          </a:p>
          <a:p>
            <a:r>
              <a:t>Far notare che non faremo 'esercizi giocattolo', ma lavoreremo su dati aziendali realistici.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Quali criticità nascono quando filiali diverse usano convenzioni diverse?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perché il casting fallisce sui dati reali italiani (virgola decimale vs punto).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perché il casting fallisce sui dati reali italiani (virgola decimale vs punto).</a:t>
            </a:r>
          </a:p>
          <a:p/>
          <a:p>
            <a:r>
              <a:t>💻 DEMO / LABORATORIO:</a:t>
            </a:r>
          </a:p>
          <a:p>
            <a:r>
              <a:t>Aprire il REPL Python interattivo e mostrare in diretta il ValueError lanciato da float('100,50').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Excel interpreta '100,50' come numero mentre Python lo vede come stringa?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la corrispondenza 1:1 tra un record di database/Excel e un dizionario Python.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la corrispondenza 1:1 tra un record di database/Excel e un dizionario Python.</a:t>
            </a:r>
          </a:p>
          <a:p/>
          <a:p>
            <a:r>
              <a:t>💻 DEMO / LABORATORIO:</a:t>
            </a:r>
          </a:p>
          <a:p>
            <a:r>
              <a:t>Far vedere la differenza tra ordine['note'] (errore) e ordine.get('note') (sicuro).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modellereste una fattura con più articoli usando solo liste e dizionari?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Evidenziare la potenza della list comprehension rispetto ai cicli for tradizionali.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Evidenziare la potenza della list comprehension rispetto ai cicli for tradizionali.</a:t>
            </a:r>
          </a:p>
          <a:p/>
          <a:p>
            <a:r>
              <a:t>💻 DEMO / LABORATORIO:</a:t>
            </a:r>
          </a:p>
          <a:p>
            <a:r>
              <a:t>Mostrare come calcolare somme e filtri in una sola riga leggibile ed espressiva.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il vantaggio computazionale e di leggibilità di una list comprehension?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perché centralizzare le logiche di calcolo evita disallineamenti contabili.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perché centralizzare le logiche di calcolo evita disallineamenti contabili.</a:t>
            </a:r>
          </a:p>
          <a:p/>
          <a:p>
            <a:r>
              <a:t>💻 DEMO / LABORATORIO:</a:t>
            </a:r>
          </a:p>
          <a:p>
            <a:r>
              <a:t>Invitare gli studenti a scrivere funzioni pure senza effetti collaterali (side-effects).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succede se l'aliquota IVA cambia dal 22% al 24% se la formula è sparpagliata in 20 punti?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Sessione hands-on guidata di 45 minuti.</a:t>
            </a:r>
          </a:p>
          <a:p/>
          <a:p>
            <a:r>
              <a:t>⏱️ TIMING:</a:t>
            </a:r>
          </a:p>
          <a:p>
            <a:r>
              <a:t>45 Minuti</a:t>
            </a:r>
          </a:p>
          <a:p/>
          <a:p>
            <a:r>
              <a:t>📘 GUIDA DOCENTE:</a:t>
            </a:r>
          </a:p>
          <a:p>
            <a:r>
              <a:t>Sessione hands-on guidata di 45 minuti. Girare tra i banchi per verificare la corretta impostazione dei TODO.</a:t>
            </a:r>
          </a:p>
          <a:p/>
          <a:p>
            <a:r>
              <a:t>💻 DEMO / LABORATORIO:</a:t>
            </a:r>
          </a:p>
          <a:p>
            <a:r>
              <a:t>Verificare che gli studenti abbiano attivato il virtualenv prima di lanciare lo script.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Chi è riuscito a normalizzare correttamente gli acronimi 'Srl' e 'SpA'?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Punto di raccordo teorico-pratico: tirare le somme prima di passare alla potenza di calcolo di Pandas.</a:t>
            </a:r>
          </a:p>
          <a:p/>
          <a:p>
            <a:r>
              <a:t>⏱️ TIMING:</a:t>
            </a:r>
          </a:p>
          <a:p>
            <a:r>
              <a:t>10 Minuti</a:t>
            </a:r>
          </a:p>
          <a:p/>
          <a:p>
            <a:r>
              <a:t>📘 GUIDA DOCENTE:</a:t>
            </a:r>
          </a:p>
          <a:p>
            <a:r>
              <a:t>Punto di raccordo teorico-pratico: tirare le somme prima di passare alla potenza di calcolo di Pandas.</a:t>
            </a:r>
          </a:p>
          <a:p/>
          <a:p>
            <a:r>
              <a:t>💻 DEMO / LABORATORIO:</a:t>
            </a:r>
          </a:p>
          <a:p>
            <a:r>
              <a:t>Sottolineare che la logica imparata con i dizionari è la base concettuale dei DataFrame.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Quanto tempo impiegheremmo a pulire a mano 50.000 righe con un ciclo for rispetto a Pandas?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Introdurre Pandas e confrontarlo operativamente con Excel.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Introdurre Pandas e confrontarlo operativamente con Excel.</a:t>
            </a:r>
          </a:p>
          <a:p/>
          <a:p>
            <a:r>
              <a:t>💻 DEMO / LABORATORIO:</a:t>
            </a:r>
          </a:p>
          <a:p>
            <a:r>
              <a:t>Far eseguire il primo import a tutti gli studenti.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la differenza fondamentale tra una Series e un DataFrame?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come identificare immediatamente colonne sporche o con valori nulli tramite info().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come identificare immediatamente colonne sporche o con valori nulli tramite info().</a:t>
            </a:r>
          </a:p>
          <a:p/>
          <a:p>
            <a:r>
              <a:t>💻 DEMO / LABORATORIO:</a:t>
            </a:r>
          </a:p>
          <a:p>
            <a:r>
              <a:t>Far notare che Prezzo_Unitario è di tipo 'object' perché contiene simboli di valuta.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Prezzo_Unitario non è stato caricato come float64?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Chiarire la distinzione tra singola quadra e doppia quadra.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Chiarire la distinzione tra singola quadra e doppia quadra.</a:t>
            </a:r>
          </a:p>
          <a:p/>
          <a:p>
            <a:r>
              <a:t>💻 DEMO / LABORATORIO:</a:t>
            </a:r>
          </a:p>
          <a:p>
            <a:r>
              <a:t>Mostrare la differenza di tipo tra Series e DataFrame.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restituisce df[['Fatturato_Lordo']] rispetto a df['Fatturato_Lordo']?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Fissare bene la differenza tra coordinate numeriche (.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Fissare bene la differenza tra coordinate numeriche (.iloc) e nomi colonna (.loc).</a:t>
            </a:r>
          </a:p>
          <a:p/>
          <a:p>
            <a:r>
              <a:t>💻 DEMO / LABORATORIO:</a:t>
            </a:r>
          </a:p>
          <a:p>
            <a:r>
              <a:t>Dimostrare l'inclusione degli estremi in .loc vs esclusione in .iloc.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In quale scenario aziendale preferireste .iloc rispetto a .loc?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il concetto di maschera booleana (vettore di True/False).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il concetto di maschera booleana (vettore di True/False).</a:t>
            </a:r>
          </a:p>
          <a:p/>
          <a:p>
            <a:r>
              <a:t>💻 DEMO / LABORATORIO:</a:t>
            </a:r>
          </a:p>
          <a:p>
            <a:r>
              <a:t>Mostrare come il conteggio dei True corrisponda esattamente al numero di ordini.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contereste quante transazioni hanno importo superiore a 1.000€?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Insistere sull'errore più comune dei principianti: dimenticare le parentesi tonde.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Insistere sull'errore più comune dei principianti: dimenticare le parentesi tonde.</a:t>
            </a:r>
          </a:p>
          <a:p/>
          <a:p>
            <a:r>
              <a:t>💻 DEMO / LABORATORIO:</a:t>
            </a:r>
          </a:p>
          <a:p>
            <a:r>
              <a:t>Spiegare la precedenza degli operatori in Python.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(df['qta'] &gt; 5) &amp; (df['sconto'] &gt; 0) richiede le parentesi?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l'efficacia di.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l'efficacia di .isin() rispetto a concatenazioni infinite di OR (|).</a:t>
            </a:r>
          </a:p>
          <a:p/>
          <a:p>
            <a:r>
              <a:t>💻 DEMO / LABORATORIO:</a:t>
            </a:r>
          </a:p>
          <a:p>
            <a:r>
              <a:t>Far provare la ricerca su nomi prodotto diversi.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succede con .str.contains se una cella contiene NaN e non si imposta na=False?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perché i cicli for in Pandas sono un anti-pattern da evitare.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perché i cicli for in Pandas sono un anti-pattern da evitare.</a:t>
            </a:r>
          </a:p>
          <a:p/>
          <a:p>
            <a:r>
              <a:t>💻 DEMO / LABORATORIO:</a:t>
            </a:r>
          </a:p>
          <a:p>
            <a:r>
              <a:t>Confrontare i millisecondi di un'operazione vettoriale vs iterrows().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la vettorializzazione è 100 volte più veloce di un ciclo for?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il parametro errors='coerce' come salvavita contro crash improvvisi di pipeline.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il parametro errors='coerce' come salvavita contro crash improvvisi di pipeline.</a:t>
            </a:r>
          </a:p>
          <a:p/>
          <a:p>
            <a:r>
              <a:t>💻 DEMO / LABORATORIO:</a:t>
            </a:r>
          </a:p>
          <a:p>
            <a:r>
              <a:t>Mostrare quante celle sono state convertite a NaN e perché.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fa errors='coerce' rispetto a errors='raise' o errors='ignore'?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Verificare che tutti gli studenti abbiano ottenuto colonne numeriche coerenti.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Verificare che tutti gli studenti abbiano ottenuto colonne numeriche coerenti.</a:t>
            </a:r>
          </a:p>
          <a:p/>
          <a:p>
            <a:r>
              <a:t>💻 DEMO / LABORATORIO:</a:t>
            </a:r>
          </a:p>
          <a:p>
            <a:r>
              <a:t>Far notare l'importanza dell'arrotondamento per evitare problemi di precisione in virgola mobile.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la differenza di fatturato complessivo prima e dopo lo sconto?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l'applicazione del ranking sui contratti ad alto valore.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l'applicazione del ranking sui contratti ad alto valore.</a:t>
            </a:r>
          </a:p>
          <a:p/>
          <a:p>
            <a:r>
              <a:t>💻 DEMO / LABORATORIO:</a:t>
            </a:r>
          </a:p>
          <a:p>
            <a:r>
              <a:t>Far notare quali prodotti e clienti compaiono più frequentemente nella Top 10.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l'ordine a maggior valore registrato a Roma?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differenza pratica tra media e mediana nel business.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differenza pratica tra media e mediana nel business.</a:t>
            </a:r>
          </a:p>
          <a:p/>
          <a:p>
            <a:r>
              <a:t>💻 DEMO / LABORATORIO:</a:t>
            </a:r>
          </a:p>
          <a:p>
            <a:r>
              <a:t>Mostrare perché un ordine enorme sposta la media ma non la mediana.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Se la media è 3.500€ e la mediana è 1.200€, cosa significa per il business?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la rapidità di calcolo delle quote di mercato interne.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la rapidità di calcolo delle quote di mercato interne.</a:t>
            </a:r>
          </a:p>
          <a:p/>
          <a:p>
            <a:r>
              <a:t>💻 DEMO / LABORATORIO:</a:t>
            </a:r>
          </a:p>
          <a:p>
            <a:r>
              <a:t>Far confrontare i canali digitali rispetto a quelli tradizionali.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il canale di vendita dominante nella filiale di Roma?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Consolidare i concetti di Pandas prima di passare alla fase di pulizia pesante.</a:t>
            </a:r>
          </a:p>
          <a:p/>
          <a:p>
            <a:r>
              <a:t>⏱️ TIMING:</a:t>
            </a:r>
          </a:p>
          <a:p>
            <a:r>
              <a:t>10 Minuti</a:t>
            </a:r>
          </a:p>
          <a:p/>
          <a:p>
            <a:r>
              <a:t>📘 GUIDA DOCENTE:</a:t>
            </a:r>
          </a:p>
          <a:p>
            <a:r>
              <a:t>Consolidare i concetti di Pandas prima di passare alla fase di pulizia pesante.</a:t>
            </a:r>
          </a:p>
          <a:p/>
          <a:p>
            <a:r>
              <a:t>💻 DEMO / LABORATORIO:</a:t>
            </a:r>
          </a:p>
          <a:p>
            <a:r>
              <a:t>Verificare che tutti abbiano completato il Laboratorio 2.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fareste se un dataset contenesse duplicati esatti di righe?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Introdurre il concetto di Data Wrangling: il 70% del tempo di un Data Analyst è dedicato alla pulizia.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Introdurre il concetto di Data Wrangling: il 70% del tempo di un Data Analyst è dedicato alla pulizia.</a:t>
            </a:r>
          </a:p>
          <a:p/>
          <a:p>
            <a:r>
              <a:t>💻 DEMO / LABORATORIO:</a:t>
            </a:r>
          </a:p>
          <a:p>
            <a:r>
              <a:t>Mostrare le righe sporche direttamente dal file Excel roma.xlsx.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Quali conseguenze avrebbe calcolare il fatturato senza rimuovere i duplicati?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la differenza tra duplicato esatto (tutte le colonne uguali) e duplicato su chiave.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la differenza tra duplicato esatto (tutte le colonne uguali) e duplicato su chiave.</a:t>
            </a:r>
          </a:p>
          <a:p/>
          <a:p>
            <a:r>
              <a:t>💻 DEMO / LABORATORIO:</a:t>
            </a:r>
          </a:p>
          <a:p>
            <a:r>
              <a:t>Far eseguire il comando agli studenti sul file di Roma.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fa il parametro keep='last' rispetto a keep='first'?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come le incongruenze di testo creano categorie fittizie nei report se non normalizzate.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come le incongruenze di testo creano categorie fittizie nei report se non normalizzate.</a:t>
            </a:r>
          </a:p>
          <a:p/>
          <a:p>
            <a:r>
              <a:t>💻 DEMO / LABORATORIO:</a:t>
            </a:r>
          </a:p>
          <a:p>
            <a:r>
              <a:t>Mostrare la distribuzione prima e dopo la normalizzazione.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'Hardware' e 'Hardware ' verrebbero contate come due categorie separate?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Illustrare il funzionamento dei numeri seriali di data di Excel.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Illustrare il funzionamento dei numeri seriali di data di Excel.</a:t>
            </a:r>
          </a:p>
          <a:p/>
          <a:p>
            <a:r>
              <a:t>💻 DEMO / LABORATORIO:</a:t>
            </a:r>
          </a:p>
          <a:p>
            <a:r>
              <a:t>Far notare il parametro dayfirst=True per evitare inversioni tra giorno e mese.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rappresenta il numero 45506 in un foglio Excel?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come il feature engineering temporale prepari i dati per i grafici di trend e per la dashboard.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come il feature engineering temporale prepari i dati per i grafici di trend e per la dashboard.</a:t>
            </a:r>
          </a:p>
          <a:p/>
          <a:p>
            <a:r>
              <a:t>💻 DEMO / LABORATORIO:</a:t>
            </a:r>
          </a:p>
          <a:p>
            <a:r>
              <a:t>Spiegare la comodità dell'accessore .dt.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possiamo raggruppare le vendite per trimestre?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Evidenziare la differenza fondamentale tra media globale ed imputazione per gruppo.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Evidenziare la differenza fondamentale tra media globale ed imputazione per gruppo.</a:t>
            </a:r>
          </a:p>
          <a:p/>
          <a:p>
            <a:r>
              <a:t>💻 DEMO / LABORATORIO:</a:t>
            </a:r>
          </a:p>
          <a:p>
            <a:r>
              <a:t>Mostrare come transform() mantenga la stessa lunghezza del DataFrame originale.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non dovremmo mai sostituire un prezzo nullo con la media generale di tutto il catalogo?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Left Join come analogo moderno e robusto del CERCA.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Left Join come analogo moderno e robusto del CERCA.VERT (VLOOKUP) di Excel.</a:t>
            </a:r>
          </a:p>
          <a:p/>
          <a:p>
            <a:r>
              <a:t>💻 DEMO / LABORATORIO:</a:t>
            </a:r>
          </a:p>
          <a:p>
            <a:r>
              <a:t>Far notare che la merge in Pandas non soffre dei limiti di ordinamento o posizione delle colonne.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accade se un cliente nella tabella vendite non esiste nell'anagrafica?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Far eseguire il merge e verificare che il conteggio righe sia rimasto esattamente a 1.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Far eseguire il merge e verificare che il conteggio righe sia rimasto esattamente a 1.200.</a:t>
            </a:r>
          </a:p>
          <a:p/>
          <a:p>
            <a:r>
              <a:t>💻 DEMO / LABORATORIO:</a:t>
            </a:r>
          </a:p>
          <a:p>
            <a:r>
              <a:t>Mostrare come le colonne Settore e Rating_Affidabilita siano ora disponibili per l'analisi.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si risolvono eventuali conflitti nei nomi colonna con il parametro suffixes?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Named Aggregation come standard moderno per creare report puliti.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Named Aggregation come standard moderno per creare report puliti.</a:t>
            </a:r>
          </a:p>
          <a:p/>
          <a:p>
            <a:r>
              <a:t>💻 DEMO / LABORATORIO:</a:t>
            </a:r>
          </a:p>
          <a:p>
            <a:r>
              <a:t>Mostrare come ordinare il report per fatturato decrescente.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Quale settore genera il fatturato maggiore a Roma?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Guidare gli studenti nella risoluzione del laboratorio.</a:t>
            </a:r>
          </a:p>
          <a:p/>
          <a:p>
            <a:r>
              <a:t>⏱️ TIMING:</a:t>
            </a:r>
          </a:p>
          <a:p>
            <a:r>
              <a:t>45 Minuti</a:t>
            </a:r>
          </a:p>
          <a:p/>
          <a:p>
            <a:r>
              <a:t>📘 GUIDA DOCENTE:</a:t>
            </a:r>
          </a:p>
          <a:p>
            <a:r>
              <a:t>Guidare gli studenti nella risoluzione del laboratorio. Dedicare tempo al debug del parsing date.</a:t>
            </a:r>
          </a:p>
          <a:p/>
          <a:p>
            <a:r>
              <a:t>💻 DEMO / LABORATORIO:</a:t>
            </a:r>
          </a:p>
          <a:p>
            <a:r>
              <a:t>Verificare che i totali coincidano al centesimo con la soluzione.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Tutti sono riusciti ad ottenere 1.200 righe pulite e coerenti?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Confrontare la pivot_table di Pandas con le tabelle pivot di Excel.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Confrontare la pivot_table di Pandas con le tabelle pivot di Excel.</a:t>
            </a:r>
          </a:p>
          <a:p/>
          <a:p>
            <a:r>
              <a:t>💻 DEMO / LABORATORIO:</a:t>
            </a:r>
          </a:p>
          <a:p>
            <a:r>
              <a:t>Mostrare come questa matrice sia la base diretta per generare la Heatmap nel Modulo 4.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la combinazione Canale-Categoria che genera più fatturato?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Punto di svolta del corso: i dati sono finalmente puliti e pronti per il business.</a:t>
            </a:r>
          </a:p>
          <a:p/>
          <a:p>
            <a:r>
              <a:t>⏱️ TIMING:</a:t>
            </a:r>
          </a:p>
          <a:p>
            <a:r>
              <a:t>10 Minuti</a:t>
            </a:r>
          </a:p>
          <a:p/>
          <a:p>
            <a:r>
              <a:t>📘 GUIDA DOCENTE:</a:t>
            </a:r>
          </a:p>
          <a:p>
            <a:r>
              <a:t>Punto di svolta del corso: i dati sono finalmente puliti e pronti per il business.</a:t>
            </a:r>
          </a:p>
          <a:p/>
          <a:p>
            <a:r>
              <a:t>💻 DEMO / LABORATORIO:</a:t>
            </a:r>
          </a:p>
          <a:p>
            <a:r>
              <a:t>Congratularsi con l'aula per aver completato la parte più ostica (il data cleaning).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rende un grafico aziendale immediatamente comprensibile a un dirigente?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psicologia della percezione visiva nei report direzionali.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psicologia della percezione visiva nei report direzionali.</a:t>
            </a:r>
          </a:p>
          <a:p/>
          <a:p>
            <a:r>
              <a:t>💻 DEMO / LABORATORIO:</a:t>
            </a:r>
          </a:p>
          <a:p>
            <a:r>
              <a:t>Mostrare l'anteprima della Executive Dashboard 2x2 che realizzeremo nel modulo.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i grafici a torta con più di 5 fette sono sconsigliati nei report finanziari?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differenza tra l'approccio orientato a oggetti (fig, ax) e l'approccio procedurale (plt.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differenza tra l'approccio orientato a oggetti (fig, ax) e l'approccio procedurale (plt.plot).</a:t>
            </a:r>
          </a:p>
          <a:p/>
          <a:p>
            <a:r>
              <a:t>💻 DEMO / LABORATORIO:</a:t>
            </a:r>
          </a:p>
          <a:p>
            <a:r>
              <a:t>Insegnare l'uso di tight_layout() per evitare testi tagliati.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l'approccio OOP è fondamentale quando si creano cruscotti multi-plot?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perché il grafico a barre orizzontale è la scelta migliore quando le etichette di testo sono lunghe.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perché il grafico a barre orizzontale è la scelta migliore quando le etichette di testo sono lunghe.</a:t>
            </a:r>
          </a:p>
          <a:p/>
          <a:p>
            <a:r>
              <a:t>💻 DEMO / LABORATORIO:</a:t>
            </a:r>
          </a:p>
          <a:p>
            <a:r>
              <a:t>Mostrare come inserire le label di testo sui dati con ax.text().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il fatturato del primo cliente di Roma?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come una linea orizzontale di media o budget fornisca contesto immediato al lettore.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come una linea orizzontale di media o budget fornisca contesto immediato al lettore.</a:t>
            </a:r>
          </a:p>
          <a:p/>
          <a:p>
            <a:r>
              <a:t>💻 DEMO / LABORATORIO:</a:t>
            </a:r>
          </a:p>
          <a:p>
            <a:r>
              <a:t>Far notare i picchi di vendita stagionali.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In quali mesi le vendite superano la media annuale?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Illustrare come Seaborn semplifichi grafici statistici complessi in poche righe di codice.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Illustrare come Seaborn semplifichi grafici statistici complessi in poche righe di codice.</a:t>
            </a:r>
          </a:p>
          <a:p/>
          <a:p>
            <a:r>
              <a:t>💻 DEMO / LABORATORIO:</a:t>
            </a:r>
          </a:p>
          <a:p>
            <a:r>
              <a:t>Mostrare come il parametro hue suddivida automaticamente i dati per canale.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il vantaggio di usare Seaborn rispetto a scrivere tutto in Matplotlib puro?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Insegnare a leggere un Boxplot in un contesto aziendale (mediana, quartili e sconti fuori scala).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Insegnare a leggere un Boxplot in un contesto aziendale (mediana, quartili e sconti fuori scala).</a:t>
            </a:r>
          </a:p>
          <a:p/>
          <a:p>
            <a:r>
              <a:t>💻 DEMO / LABORATORIO:</a:t>
            </a:r>
          </a:p>
          <a:p>
            <a:r>
              <a:t>Far notare l'assenza di warning grazie a hue ed esplicito legend=False.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Quale canale commerciale applica la mediana di sconto più elevata?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come la Heatmap renda visibili pattern che in una tabella numerica sfuggirebbero.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come la Heatmap renda visibili pattern che in una tabella numerica sfuggirebbero.</a:t>
            </a:r>
          </a:p>
          <a:p/>
          <a:p>
            <a:r>
              <a:t>💻 DEMO / LABORATORIO:</a:t>
            </a:r>
          </a:p>
          <a:p>
            <a:r>
              <a:t>Spiegare la scelta delle mappe di colore (palette sequenziali).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Quale combinazione Canale-Categoria è la più calda?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l'indicizzazione a matrice degli assi: axes[riga, colonna].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l'indicizzazione a matrice degli assi: axes[riga, colonna].</a:t>
            </a:r>
          </a:p>
          <a:p/>
          <a:p>
            <a:r>
              <a:t>💻 DEMO / LABORATORIO:</a:t>
            </a:r>
          </a:p>
          <a:p>
            <a:r>
              <a:t>Mostrare come comporre una tavola coerente pronta per essere stampata o inserita in un report PDF.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si accede al grafico in basso a destra nella griglia?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Analizzare insieme all'aula il cruscotto finito, commentando i principali insight di business.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Analizzare insieme all'aula il cruscotto finito, commentando i principali insight di business.</a:t>
            </a:r>
          </a:p>
          <a:p/>
          <a:p>
            <a:r>
              <a:t>💻 DEMO / LABORATORIO:</a:t>
            </a:r>
          </a:p>
          <a:p>
            <a:r>
              <a:t>Far notare l'armonia cromatica e la leggibilità di tutti i testi.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Se doveste presentare questo report al CEO in 2 minuti, quali punti mettereste in evidenza?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Supportare gli studenti nella generazione dei grafici e verificare che i file PNG vengano creati nella cartella corretta.</a:t>
            </a:r>
          </a:p>
          <a:p/>
          <a:p>
            <a:r>
              <a:t>⏱️ TIMING:</a:t>
            </a:r>
          </a:p>
          <a:p>
            <a:r>
              <a:t>45 Minuti</a:t>
            </a:r>
          </a:p>
          <a:p/>
          <a:p>
            <a:r>
              <a:t>📘 GUIDA DOCENTE:</a:t>
            </a:r>
          </a:p>
          <a:p>
            <a:r>
              <a:t>Supportare gli studenti nella generazione dei grafici e verificare che i file PNG vengano creati nella cartella corretta.</a:t>
            </a:r>
          </a:p>
          <a:p/>
          <a:p>
            <a:r>
              <a:t>💻 DEMO / LABORATORIO:</a:t>
            </a:r>
          </a:p>
          <a:p>
            <a:r>
              <a:t>Far verificare la nitidezza dell'immagine a 300 DPI.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Tutti i grafici sono stati salvati correttamente nella cartella dataset/generated/?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Riepilogare i progressi didattici: dalla sintassi base alla visualizzazione direzionale.</a:t>
            </a:r>
          </a:p>
          <a:p/>
          <a:p>
            <a:r>
              <a:t>⏱️ TIMING:</a:t>
            </a:r>
          </a:p>
          <a:p>
            <a:r>
              <a:t>10 Minuti</a:t>
            </a:r>
          </a:p>
          <a:p/>
          <a:p>
            <a:r>
              <a:t>📘 GUIDA DOCENTE:</a:t>
            </a:r>
          </a:p>
          <a:p>
            <a:r>
              <a:t>Riepilogare i progressi didattici: dalla sintassi base alla visualizzazione direzionale.</a:t>
            </a:r>
          </a:p>
          <a:p/>
          <a:p>
            <a:r>
              <a:t>💻 DEMO / LABORATORIO:</a:t>
            </a:r>
          </a:p>
          <a:p>
            <a:r>
              <a:t>Introdurre il concetto di pipeline industriale automatizzata.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possiamo evitare di rieseguire manualmente il codice per ogni singolo file Excel?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Introdurre il concetto cardine di ETL (Extract-Transform-Load) nell'ingegneria del dato.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Introdurre il concetto cardine di ETL (Extract-Transform-Load) nell'ingegneria del dato.</a:t>
            </a:r>
          </a:p>
          <a:p/>
          <a:p>
            <a:r>
              <a:t>💻 DEMO / LABORATORIO:</a:t>
            </a:r>
          </a:p>
          <a:p>
            <a:r>
              <a:t>Mostrare lo schema delle 3 fasi operative.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è fondamentale separare l'estrazione dalla trasformazione e dal salvataggio?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come il codice non debba mai contenere percorsi fissi (hardcoded).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come il codice non debba mai contenere percorsi fissi (hardcoded).</a:t>
            </a:r>
          </a:p>
          <a:p/>
          <a:p>
            <a:r>
              <a:t>💻 DEMO / LABORATORIO:</a:t>
            </a:r>
          </a:p>
          <a:p>
            <a:r>
              <a:t>Far testare la scansione dinamica sui file presenti in dataset/raw/.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accadrebbe se aggiungessimo un nuovo file 'bologna.xlsx' nella cartella?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concatenazione verticale di tabelle con le stesse colonne.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concatenazione verticale di tabelle con le stesse colonne.</a:t>
            </a:r>
          </a:p>
          <a:p/>
          <a:p>
            <a:r>
              <a:t>💻 DEMO / LABORATORIO:</a:t>
            </a:r>
          </a:p>
          <a:p>
            <a:r>
              <a:t>Mostrare come 3 file separati diventino un unico master dataset da 3.744 righe grezze.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la differenza tra concat (unione verticale) e merge (unione orizzontale)?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Sottolineare il principio DRY (Don't Repeat Yourself) applicato alle trasformazioni dei dati.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Sottolineare il principio DRY (Don't Repeat Yourself) applicato alle trasformazioni dei dati.</a:t>
            </a:r>
          </a:p>
          <a:p/>
          <a:p>
            <a:r>
              <a:t>💻 DEMO / LABORATORIO:</a:t>
            </a:r>
          </a:p>
          <a:p>
            <a:r>
              <a:t>Mostrare come il codice sia pulito, testabile e manutenibile.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Quali vantaggi offre avere un'unica funzione di trasformazione per tutte le filiali?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perché il logging è fondamentale negli ambienti server e nei processi automatici notturni.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perché il logging è fondamentale negli ambienti server e nei processi automatici notturni.</a:t>
            </a:r>
          </a:p>
          <a:p/>
          <a:p>
            <a:r>
              <a:t>💻 DEMO / LABORATORIO:</a:t>
            </a:r>
          </a:p>
          <a:p>
            <a:r>
              <a:t>Mostrare l'output formattato con orari e livelli su terminale.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la differenza tra logging.warning() e logging.error()?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il funzionamento dei formati colonnari rispetto ai formati a riga (CSV/Excel).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il funzionamento dei formati colonnari rispetto ai formati a riga (CSV/Excel).</a:t>
            </a:r>
          </a:p>
          <a:p/>
          <a:p>
            <a:r>
              <a:t>💻 DEMO / LABORATORIO:</a:t>
            </a:r>
          </a:p>
          <a:p>
            <a:r>
              <a:t>Mostrare le dimensioni ridotte del file Parquet su disco.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Parquet preserva i tipi di dato mentre i CSV richiedono sempre il ricalcolo dei tipi?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il file Excel generato aprendolo a schermo per far vedere le 4 schede riepilogative.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il file Excel generato aprendolo a schermo per far vedere le 4 schede riepilogative.</a:t>
            </a:r>
          </a:p>
          <a:p/>
          <a:p>
            <a:r>
              <a:t>💻 DEMO / LABORATORIO:</a:t>
            </a:r>
          </a:p>
          <a:p>
            <a:r>
              <a:t>Far notare che questo file viene prodotto automaticamente in meno di 2 secondi.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possiamo automatizzare l'invio via email di questo file a fine mese?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Congratularsi con l'aula: la pipeline è operativa e produce dati certificati.</a:t>
            </a:r>
          </a:p>
          <a:p/>
          <a:p>
            <a:r>
              <a:t>⏱️ TIMING:</a:t>
            </a:r>
          </a:p>
          <a:p>
            <a:r>
              <a:t>10 Minuti</a:t>
            </a:r>
          </a:p>
          <a:p/>
          <a:p>
            <a:r>
              <a:t>📘 GUIDA DOCENTE:</a:t>
            </a:r>
          </a:p>
          <a:p>
            <a:r>
              <a:t>Congratularsi con l'aula: la pipeline è operativa e produce dati certificati.</a:t>
            </a:r>
          </a:p>
          <a:p/>
          <a:p>
            <a:r>
              <a:t>💻 DEMO / LABORATORIO:</a:t>
            </a:r>
          </a:p>
          <a:p>
            <a:r>
              <a:t>Lanciare la soluzione sol05_automazione_pipeline.py a schermo intero.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il fatturato totale consolidato delle 3 filiali?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Presentare Streamlit come lo strumento leader per Data Science e Business Intelligence in Python.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Presentare Streamlit come lo strumento leader per Data Science e Business Intelligence in Python.</a:t>
            </a:r>
          </a:p>
          <a:p/>
          <a:p>
            <a:r>
              <a:t>💻 DEMO / LABORATORIO:</a:t>
            </a:r>
          </a:p>
          <a:p>
            <a:r>
              <a:t>Far avviare la prima app starter agli studenti su porta locale.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Streamlit è più veloce da sviluppare rispetto a una tradizionale app web Django/React?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il meccanismo interno di hashing e caching di Streamlit.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il meccanismo interno di hashing e caching di Streamlit.</a:t>
            </a:r>
          </a:p>
          <a:p/>
          <a:p>
            <a:r>
              <a:t>💻 DEMO / LABORATORIO:</a:t>
            </a:r>
          </a:p>
          <a:p>
            <a:r>
              <a:t>Dimostrare la velocità di reazione dell'interfaccia con e senza cache.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accadrebbe all'esperienza utente senza il decoratore @st.cache_data?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come aggiungere widget nella sidebar semplicemente anteponendo st.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come aggiungere widget nella sidebar semplicemente anteponendo st.sidebar.</a:t>
            </a:r>
          </a:p>
          <a:p/>
          <a:p>
            <a:r>
              <a:t>💻 DEMO / LABORATORIO:</a:t>
            </a:r>
          </a:p>
          <a:p>
            <a:r>
              <a:t>Far provare la selezione e deselezione delle filiali a schermo.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restituisce st.multiselect quando l'utente deseleziona tutti i valori?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la gestione della tupla restituita da st.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la gestione della tupla restituita da st.date_input.</a:t>
            </a:r>
          </a:p>
          <a:p/>
          <a:p>
            <a:r>
              <a:t>💻 DEMO / LABORATORIO:</a:t>
            </a:r>
          </a:p>
          <a:p>
            <a:r>
              <a:t>Mostrare come il filtro temporale aggiorni istantaneamente tutti i KPI della pagina.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gestiamo il caso in cui l'utente clicca solo la data di inizio nel calendario?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l'impatto visivo delle card KPI all'apertura dell'applicazione.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l'impatto visivo delle card KPI all'apertura dell'applicazione.</a:t>
            </a:r>
          </a:p>
          <a:p/>
          <a:p>
            <a:r>
              <a:t>💻 DEMO / LABORATORIO:</a:t>
            </a:r>
          </a:p>
          <a:p>
            <a:r>
              <a:t>Spiegare come i valori si ricalcolino dinamicamente in base ai filtri applicati.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possiamo inserire un delta positivo o negativo con st.metric?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Spiegare il pattern with tab: per popolare ciascuna scheda in modo ordinato.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Spiegare il pattern with tab: per popolare ciascuna scheda in modo ordinato.</a:t>
            </a:r>
          </a:p>
          <a:p/>
          <a:p>
            <a:r>
              <a:t>💻 DEMO / LABORATORIO:</a:t>
            </a:r>
          </a:p>
          <a:p>
            <a:r>
              <a:t>Mostrare la fluidità di navigazione tra le schede.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Quali vantaggi offre l'uso di st.tabs rispetto a una pagina unica lunghissima da scrollare?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Far notare come i grafici cambino istantaneamente quando si filtrano le filiali nella sidebar.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Far notare come i grafici cambino istantaneamente quando si filtrano le filiali nella sidebar.</a:t>
            </a:r>
          </a:p>
          <a:p/>
          <a:p>
            <a:r>
              <a:t>💻 DEMO / LABORATORIO:</a:t>
            </a:r>
          </a:p>
          <a:p>
            <a:r>
              <a:t>Spiegare l'importanza di plt.close(fig) per evitare memory leak sul server.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accade al grafico del trend se deselezioniamo la filiale di Milano?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l'interattività della tabella st.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l'interattività della tabella st.dataframe (ordinamento colonne al clic dell'utente).</a:t>
            </a:r>
          </a:p>
          <a:p/>
          <a:p>
            <a:r>
              <a:t>💻 DEMO / LABORATORIO:</a:t>
            </a:r>
          </a:p>
          <a:p>
            <a:r>
              <a:t>Far analizzare la concentrazione del fatturato sui top client.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Quale cliente genera il ticket medio più alto?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Dimostrare la ricerca istantanea digitando 'Tech' o 'Server'.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Dimostrare la ricerca istantanea digitando 'Tech' o 'Server'.</a:t>
            </a:r>
          </a:p>
          <a:p/>
          <a:p>
            <a:r>
              <a:t>💻 DEMO / LABORATORIO:</a:t>
            </a:r>
          </a:p>
          <a:p>
            <a:r>
              <a:t>Mostrare il funzionamento del download CSV.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possiamo dare autonomia all'utente non tecnico tramite l'export dati?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dal vivo come lo spostamento dello slider modifichi in tempo reale le previsioni di fatturato.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dal vivo come lo spostamento dello slider modifichi in tempo reale le previsioni di fatturato.</a:t>
            </a:r>
          </a:p>
          <a:p/>
          <a:p>
            <a:r>
              <a:t>💻 DEMO / LABORATORIO:</a:t>
            </a:r>
          </a:p>
          <a:p>
            <a:r>
              <a:t>Far notare l'uso di .clip(0, 100) per evitare sconti negativi o superiori al 100%.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Se aumentiamo i volumi del 20% ma concediamo il 5% di sconto in più, il margine aumenta o diminuisce?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come piccoli dettagli di stile rendano la web app accattivante e pronta per la presentazione ai vertici aziendali.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come piccoli dettagli di stile rendano la web app accattivante e pronta per la presentazione ai vertici aziendali.</a:t>
            </a:r>
          </a:p>
          <a:p/>
          <a:p>
            <a:r>
              <a:t>💻 DEMO / LABORATORIO:</a:t>
            </a:r>
          </a:p>
          <a:p>
            <a:r>
              <a:t>Far notare l'uso prudente di unsafe_allow_html.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possiamo allineare i colori dell'applicazione alla brand identity aziendale?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Sessione di laboratorio intensiva di 1 ora e mezza.</a:t>
            </a:r>
          </a:p>
          <a:p/>
          <a:p>
            <a:r>
              <a:t>⏱️ TIMING:</a:t>
            </a:r>
          </a:p>
          <a:p>
            <a:r>
              <a:t>90 Minuti</a:t>
            </a:r>
          </a:p>
          <a:p/>
          <a:p>
            <a:r>
              <a:t>📘 GUIDA DOCENTE:</a:t>
            </a:r>
          </a:p>
          <a:p>
            <a:r>
              <a:t>Sessione di laboratorio intensiva di 1 ora e mezza. Assistere gli studenti nella costruzione progressiva dei componenti.</a:t>
            </a:r>
          </a:p>
          <a:p/>
          <a:p>
            <a:r>
              <a:t>💻 DEMO / LABORATORIO:</a:t>
            </a:r>
          </a:p>
          <a:p>
            <a:r>
              <a:t>Verificare che la dashboard si apra nel browser di tutti gli studenti.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Tutti riescono a filtrare i dati per filiale e vedere i KPI aggiornarsi istantaneamente?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Tirare le somme del modulo applicativo più importante prima della sessione di deploy sistemistico.</a:t>
            </a:r>
          </a:p>
          <a:p/>
          <a:p>
            <a:r>
              <a:t>⏱️ TIMING:</a:t>
            </a:r>
          </a:p>
          <a:p>
            <a:r>
              <a:t>10 Minuti</a:t>
            </a:r>
          </a:p>
          <a:p/>
          <a:p>
            <a:r>
              <a:t>📘 GUIDA DOCENTE:</a:t>
            </a:r>
          </a:p>
          <a:p>
            <a:r>
              <a:t>Tirare le somme del modulo applicativo più importante prima della sessione di deploy sistemistico.</a:t>
            </a:r>
          </a:p>
          <a:p/>
          <a:p>
            <a:r>
              <a:t>💻 DEMO / LABORATORIO:</a:t>
            </a:r>
          </a:p>
          <a:p>
            <a:r>
              <a:t>Introdurre l'importanza della disponibilità continua del dato.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un'applicazione aziendale non può dipendere dal laptop di un singolo dipendente?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Iniziare la sessione di Live Demo collegandosi in diretta SSH al server Linux.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Iniziare la sessione di Live Demo collegandosi in diretta SSH al server Linux.</a:t>
            </a:r>
          </a:p>
          <a:p/>
          <a:p>
            <a:r>
              <a:t>💻 DEMO / LABORATORIO:</a:t>
            </a:r>
          </a:p>
          <a:p>
            <a:r>
              <a:t>Mostrare lo schema dei 3 livelli architetturali.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Cosa accade a uno script lanciato da terminale quando si chiude la sessione SSH?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Mostrare la creazione del file.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Mostrare la creazione del file .service a schermo e spiegarne ogni singola riga.</a:t>
            </a:r>
          </a:p>
          <a:p/>
          <a:p>
            <a:r>
              <a:t>💻 DEMO / LABORATORIO:</a:t>
            </a:r>
          </a:p>
          <a:p>
            <a:r>
              <a:t>Evidenziare l'importanza di eseguire il servizio con utente non-root per sicurezza.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Perché Restart=always è fondamentale in produzione?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Eseguire i comandi systemctl in diretta terminale e mostrare lo stato 'active (running)' verde.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Eseguire i comandi systemctl in diretta terminale e mostrare lo stato 'active (running)' verde.</a:t>
            </a:r>
          </a:p>
          <a:p/>
          <a:p>
            <a:r>
              <a:t>💻 DEMO / LABORATORIO:</a:t>
            </a:r>
          </a:p>
          <a:p>
            <a:r>
              <a:t>Simulare un riavvio con systemctl restart.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verifichereste se il servizio si avvierà automaticamente al riavvio del server?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Concludere la Live Demo simulando una connessione browser e mostrando le righe di log che compaiono in streaming nel terminale.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Concludere la Live Demo simulando una connessione browser e mostrando le righe di log che compaiono in streaming nel terminale.</a:t>
            </a:r>
          </a:p>
          <a:p/>
          <a:p>
            <a:r>
              <a:t>💻 DEMO / LABORATORIO:</a:t>
            </a:r>
          </a:p>
          <a:p>
            <a:r>
              <a:t>Mostrare la guida operativa completa in guida_deploy.md.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fareste a diagnosticare un eventuale errore runtime avvenuto durante la notte?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Lanciare la sessione di esame / Project Work finale di 3 ore.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Lanciare la sessione di esame / Project Work finale di 3 ore.</a:t>
            </a:r>
          </a:p>
          <a:p/>
          <a:p>
            <a:r>
              <a:t>💻 DEMO / LABORATORIO:</a:t>
            </a:r>
          </a:p>
          <a:p>
            <a:r>
              <a:t>Presentare la traccia formale in project_work/traccia_studenti.md.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Quali sono le particolarità che vi aspettate di trovare nel dataset della nuova filiale di Napoli?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Chiarire i criteri di valutazione e i deliverable attesi da ciascun gruppo.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Chiarire i criteri di valutazione e i deliverable attesi da ciascun gruppo.</a:t>
            </a:r>
          </a:p>
          <a:p/>
          <a:p>
            <a:r>
              <a:t>💻 DEMO / LABORATORIO:</a:t>
            </a:r>
          </a:p>
          <a:p>
            <a:r>
              <a:t>Spiegare la rubrica presente in project_work/criteri_valutazione.md.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Come verificherete che l'integrazione a 4 filiali non abbia duplicato record?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Sessione di sviluppo autonomo di 120 minuti.</a:t>
            </a:r>
          </a:p>
          <a:p/>
          <a:p>
            <a:r>
              <a:t>⏱️ TIMING:</a:t>
            </a:r>
          </a:p>
          <a:p>
            <a:r>
              <a:t>120 Minuti</a:t>
            </a:r>
          </a:p>
          <a:p/>
          <a:p>
            <a:r>
              <a:t>📘 GUIDA DOCENTE:</a:t>
            </a:r>
          </a:p>
          <a:p>
            <a:r>
              <a:t>Sessione di sviluppo autonomo di 120 minuti. Il docente gira tra i gruppi per supportare il coding.</a:t>
            </a:r>
          </a:p>
          <a:p/>
          <a:p>
            <a:r>
              <a:t>💻 DEMO / LABORATORIO:</a:t>
            </a:r>
          </a:p>
          <a:p>
            <a:r>
              <a:t>Verificare che tutti riescano ad agganciare correttamente il foglio Anagrafica_Clienti di Napoli.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la quota di fatturato generata da Napoli rispetto al totale nazionale?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Conduzione della tavola rotonda di presentazione: far esporre i risultati a turno ai rappresentanti dei gruppi.</a:t>
            </a:r>
          </a:p>
          <a:p/>
          <a:p>
            <a:r>
              <a:t>⏱️ TIMING:</a:t>
            </a:r>
          </a:p>
          <a:p>
            <a:r>
              <a:t>30 Minuti</a:t>
            </a:r>
          </a:p>
          <a:p/>
          <a:p>
            <a:r>
              <a:t>📘 GUIDA DOCENTE:</a:t>
            </a:r>
          </a:p>
          <a:p>
            <a:r>
              <a:t>Conduzione della tavola rotonda di presentazione: far esporre i risultati a turno ai rappresentanti dei gruppi.</a:t>
            </a:r>
          </a:p>
          <a:p/>
          <a:p>
            <a:r>
              <a:t>💻 DEMO / LABORATORIO:</a:t>
            </a:r>
          </a:p>
          <a:p>
            <a:r>
              <a:t>Confrontare i grafici prodotti dai vari team.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Quale raccomandazione commerciale dareste al Direttore Vendite per la sede di Napoli?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OBIETTIVO DIDATTICO:</a:t>
            </a:r>
          </a:p>
          <a:p>
            <a:r>
              <a:t>Slide conclusiva del corso.</a:t>
            </a:r>
          </a:p>
          <a:p/>
          <a:p>
            <a:r>
              <a:t>⏱️ TIMING:</a:t>
            </a:r>
          </a:p>
          <a:p>
            <a:r>
              <a:t>15 Minuti</a:t>
            </a:r>
          </a:p>
          <a:p/>
          <a:p>
            <a:r>
              <a:t>📘 GUIDA DOCENTE:</a:t>
            </a:r>
          </a:p>
          <a:p>
            <a:r>
              <a:t>Slide conclusiva del corso. Ringraziare l'aula, consegnare gli attestati e raccogliere i feedback finali.</a:t>
            </a:r>
          </a:p>
          <a:p/>
          <a:p>
            <a:r>
              <a:t>💻 DEMO / LABORATORIO:</a:t>
            </a:r>
          </a:p>
          <a:p>
            <a:r>
              <a:t>Invitare gli studenti a usare il repository come cassetta degli attrezzi per il loro lavoro quotidiano.</a:t>
            </a:r>
          </a:p>
          <a:p>
            <a:r>
              <a:t>Esecuzione live della demo a schermo e affiancamento degli studenti nello svolgimento dell'esercitazione associata nel notebook/script di laboratorio.</a:t>
            </a:r>
          </a:p>
          <a:p/>
          <a:p>
            <a:r>
              <a:t>⚠️ ERRORI TIPICI:</a:t>
            </a:r>
          </a:p>
          <a:p>
            <a:r>
              <a:t>Confusione sintattica tra formati, mancata gestione delle eccezioni o dimenticanza nell'uso di .copy() sulle viste dei dati.</a:t>
            </a:r>
          </a:p>
          <a:p/>
          <a:p>
            <a:r>
              <a:t>❓ DOMANDE AULA:</a:t>
            </a:r>
          </a:p>
          <a:p>
            <a:r>
              <a:t>Qual è la prima procedura che automatizzerete con Python appena tornati in ufficio?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LABORATORIO PYTHON + ANALISI DATI</a:t>
            </a:r>
          </a:p>
          <a:p>
            <a:pPr>
              <a:spcBef>
                <a:spcPts val="1200"/>
              </a:spcBef>
              <a:defRPr sz="1800">
                <a:solidFill>
                  <a:srgbClr val="1E88E5"/>
                </a:solidFill>
                <a:latin typeface="Arial"/>
              </a:defRPr>
            </a:pPr>
            <a:r>
              <a:t>Dall'Elaborazione Dati con Pandas alle Dashboard Interattive in Produzione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🏢 ITIS Campobasso • Percorso Intensivo 22 Ore (80% Laboratorio / 20% Teoria)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👨‍🏫 Docente: Arnaldo Morena | Senior Python Developer &amp; Data Architect</a:t>
            </a:r>
          </a:p>
          <a:p>
            <a:pPr>
              <a:spcBef>
                <a:spcPts val="800"/>
              </a:spcBef>
              <a:defRPr sz="1200">
                <a:solidFill>
                  <a:srgbClr val="1E88E5"/>
                </a:solidFill>
              </a:defRPr>
            </a:pPr>
            <a:r>
              <a:t>🔗 Repository Ufficiale: https://github.com/arnymore/python_analisi_dati_campobasso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1: PYTHON OPERATIVO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Il Caso Aziendale Unico: Rete Commerciale Italia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🏢 Scenario di Business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Azienda commerciale nazionale con 4 sedi: Roma, Milano, Torino e Napoli.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Catalogo prodotti articolato: Hardware, Software, Servizi IT e Cancelleria.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 gestionali regionali estraggono file Excel non standardizzati e con anomalie.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Obiettivo: Costruire un sistema automatizzato end-to-end per consolidare e analizzare i KPI.</a:t>
            </a:r>
          </a:p>
        </p:txBody>
      </p:sp>
      <p:pic>
        <p:nvPicPr>
          <p:cNvPr id="9" name="Picture 8" descr="diagramma_architettura_cor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1: PYTHON OPERATIVO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Tipi di Dato Primitivi e Casting nei Dati Aziendali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📌 Tipizzazione Dinamica e Pulizia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Stringhe (str): Codici cliente, nomi prodotti, date testuali.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Interi (int) e Float (float): Pezzi venduti, importi monetari e sconti.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Booleani (bool): Flag transazione approvata / pagamento saldato.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Attenzione al 'Dirty Casting': stringhe con virgola '1250,50 €' falliscono con float() se non ripulite preventivamente.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Scripting: Sanitizzazione Stringhe Prezzo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Esempio di pulizia e cast monetario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prezzo_grezzo = ' 1.850,50 € 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prezzo_clean = prezzo_grezzo.replace('€', '')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.replace('.', '')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.replace(',', '.')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.strip()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prezzo_num = float(prezzo_clean)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print(f'Prezzo numerico: {prezzo_num:.2f}')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Output: Prezzo numerico: 1850.50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1: PYTHON OPERATIVO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Strutture Dati Native: Liste, Tuple e Dizionari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🗂️ Modellare Record in Memoria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Liste []: Sequenze ordinate e modificabili (es. carrello ordini).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Tuple (): Record a sola lettura immutabili (es. coordinate geografiche).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Dizionari {}: Mappature chiave-valore per rappresentare righe di tabelle.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Accesso sicuro con .get('chiave', default) per evitare KeyError su campi opzionali.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Dizionario per Rappresentare Transazioni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Modellazione di una riga transazione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ordine = {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'id': 'RO-2024001',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'cliente': 'Tech Solutions Srl',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'prodotto': 'Server Rack 24U',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'qta': 2,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'prezzo': 1850.00,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'sconto': 10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print(ordine.get('note', 'Nessuna nota'))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1: PYTHON OPERATIVO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Logica Condizionale, Cicli ed Iterazioni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⚙️ Logica Commerciale nei Cicli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Costrutti if / elif / else per applicare scaglioni di sconto e rating cliente.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Ciclo for per iterare su elenchi di vendite ed accumulare totali progressivi.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Funzioni enumerate() per contatori e zip() per accoppiare liste parallele.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List Comprehension: trasformazioni ed estrazioni sintetiche ad alte prestazioni.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Elaborazione Multi-Riga con Comprehension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ordini = [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{'prod': 'Server', 'qta': 2, 'prezzo': 1850},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{'prod': 'Mouse',  'qta': 5, 'prezzo': 25},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{'prod': 'Laptop', 'qta': 1, 'prezzo': 900}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Filtro compatto con List Comprehension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high_value = [o for o in ordini if o['prezzo'] &gt; 500]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totale = sum(o['qta'] * o['prezzo'] for o in ordini)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print(f'Fatturato Lordo: {totale:.2f} €')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1: PYTHON OPERATIVO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Modularità: Funzioni per il Calcolo di KPI Commerciali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📐 Architettura a Funzioni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Incapsulamento della logica aziendale: mai duplicare formule contabili.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Parametri posizionali e valori di default (es. aliquota_iva=0.22, sconto_perc=0).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Ritorno strutturato: restituire dizionari con tutti i dettagli riga calcolati.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Docstring di documentazione per rendere il codice auto-esplicativo in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Funzione di Calcolo Riga Fattura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def calcola_totale_riga(qta, prezzo, sconto=0, iva=0.22):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"""Calcola imponibile, sconto, IVA e totale."""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lordo = qta * prezzo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val_sconto = lordo * (sconto / 100.0)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netto = lordo - val_sconto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imposta = netto * iva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return {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'netto': round(netto, 2),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'iva': round(imposta, 2),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'totale': round(netto + imposta, 2)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1: PYTHON OPERATIVO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Laboratorio 1: Calcolo KPI e Normalizzazione Anagrafiche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7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🧪 Consegne per gli Studenti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File di lavoro: laboratori/lab01_python_operativo/lab01_esercizi.py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1: Implementare calcola_totale_riga() con arrotondamenti a 2 decimali.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2: Calcolare i totali netti e IVA su un carrello ordini multi-prodotto.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3: Scrivere normalizza_ragione_sociale() per ripulire nomi con spazi e maiuscole.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4: Raggruppare le vendite per categoria con dizionario accumulatore.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Output di Verifica (lab01_esercizi.py)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--- OUTPUT ATTESO DALL'ESECUZIONE ---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Risultato riga: {'netto': 3825.0, 'iva': 841.5, ...}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Fatturato Netto Ordine: 7522.50 €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Totale IVA Ordine:      1654.95 €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Clienti normalizzati: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• '  tech solutions srl  ' -&gt; 'Tech Solutions Srl'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• '   logistica  molise   spa ' -&gt; 'Logistica Molise SpA'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Hardware: Qta 11 | Fatturato: 9070.00 €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Software: Qta 13 | Fatturato: 5100.00 €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1: PYTHON OPERATIVO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Recap Modulo 1: Competenze Acquisite &amp; Prossimi Passi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8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🎯 Competenze Acquisite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Piena padronanza di liste, dizionari e strutture annidate.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Capacità di scrivere funzioni modulari per il calcolo contabile.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Pulizia e normalizzazione delle stringhe anagrafiche con metodi nativi.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Comprensione dei limiti delle strutture native su grandi volumi di dati.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🚀 Verso Pandas (Modulo 2)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 cicli for nativi diventano lenti e verbosi oltre 10.000 righe.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Nel Modulo 2 scopriremo i DataFrame di Pandas per manipolare milioni di righe istantaneamente.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Tutte le operazioni fatte a mano verranno vettorializzate in una sola riga di codice.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Prepararsi ad aprire il dataset Excel ufficiale della filiale di Roma!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Dal Foglio Excel al DataFrame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9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🐼 Perché Pandas per l'Analisi Dati?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Excel limita a 1M righe e si blocca sui ricalcoli pesanti.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Pandas offre strutture in memoria bidimensionali (DataFrame) e monodimensionali (Series).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Performance C/NumPy: calcoli vettorializzati 100x più veloci.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Caricamento diretto di Excel con pd.read_excel('dataset/raw/roma.xlsx', sheet_name='Dati_Vendite').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Caricamento Dataset Excel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Ingestion file Excel ufficiale filiale Roma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df_roma = pd.read_excel(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'dataset/raw/roma.xlsx',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sheet_name='Dati_Vendite'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print(type(df_roma))  # &lt;class 'pandas.core.frame.DataFrame'&gt;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print(df_roma.shape)  # (1248 righe, 13 colonne)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Ispezione e Diagnostica Strutturale del DataFrame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10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🔍 Metodi di Ispezione Rapida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df.info(): Visualizza colonne, conteggio non-nulli e tipi di dato (dtypes).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df.describe(): Calcola statistiche descrittive istantanee (media, std, min, quartili, max).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df.head(n) e df.tail(n): Campiona le prime o ultime n righe.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df.columns e df.dtypes: Ispezione nomi colonne e formati memoria.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Ispezione Strutturale e Metadati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Diagnostica rapida di consistenza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df_roma.info()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Statistiche descrittive su campi numerici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print(df_roma[['Quantita', 'Sconto_Perc']].describe())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Prime 3 righe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print(df_roma.head(3))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Selezione Colonne: Series (1D) vs DataFrame (2D)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11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📊 Estrazione Viste Dati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Singola colonna tra parentesi quadre df['Cliente'] ➔ Restituisce una Series monodimensionale.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Lista di colonne tra doppie quadre df[['Cliente', 'Fatturato']] ➔ Restituisce un sotto-DataFrame.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Creazione di viste mirate per focalizzare l'analisi solo sui dati d'interesse.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Assegnazione a nuove variabili senza duplicare memoria non necessaria.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Selezione Singola e Multi-Colonna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Selezione singola colonna (Series)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serie_clienti = df_roma['Ragione_Sociale']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Selezione colonne multiple (DataFrame)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cols = ['ID_Transazione', 'Ragione_Sociale', 'Fatturato_Lordo']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df_focus = df_roma[cols]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print(df_focus.head(2))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Indicizzazione Avanzata: .iloc[] Posizionale vs .loc[] per Etichette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🎯 Accesso Diretto ai Dati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.iloc[righe, colonne]: Indicizzazione numerica posizionale (zero-based, estremo destro escluso).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.loc[righe, colonne]: Indicizzazione per etichetta / nome colonna (estremo destro incluso).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.loc accetta anche maschere booleane per filtrare righe condizionalmente.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Best practice: evitare l'accesso a catena df['a']['b'] e preferire sempre .loc/.iloc.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Slicing con .iloc e .loc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.iloc: righe da 10 a 15, prime 4 colonne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sub_pos = df_roma.iloc[10:16, 0:4]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.loc: righe con indice 0..5 e colonne specifiche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sub_lbl = df_roma.loc[0:5, ['Ragione_Sociale', 'Fatturato_Lordo']]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print(sub_lbl)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Filtri Booleani e Maschere Logiche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🔎 Interrogare il Dataset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Creazione di una maschera booleana: df['Canale_Vendita'] == 'E-commerce B2B'.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La maschera restituisce una Series di True e False con lo stesso indice.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Passando la maschera a df[...] vengono estratte esclusivamente le righe True.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Metodo .sum() sulla maschera per contare istantaneamente il numero di record rispondenti.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Filtro su Singola Condizione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Creazione maschera booleana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mask_ecom = df_roma['Canale_Vendita'] == 'E-commerce B2B'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print(f'Ordini E-commerce: {mask_ecom.sum()}')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Applicazione filtro al DataFrame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df_ecom = df_roma[mask_ecom]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print(df_ecom[['ID_Transazione', 'Nome_Prodotto']].head(3))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Condizioni Logiche Multiple: AND (&amp;), OR (|), NOT (~)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⚡ Regole di Sintassi Vettoriale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 Pandas NON si usano le parole chiave 'and', 'or', 'not', ma i simboli bitwise &amp;, |, ~.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IMPORTANTE: Ogni singola condizione DEVE essere racchiusa tra parentesi tonde (cond1) &amp; (cond2).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AND (&amp;): Entrambe le condizioni devono essere vere.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OR (|): Almeno una condizione deve essere vera.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NOT (~): Inverte la condizione (complementare).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Filtri Booleani Composti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Ordini con Quantita &gt;= 10 E Sconto &gt; 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cond_qta = (df_roma['Quantita'] &gt;= 10)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cond_sco = (df_roma['Sconto_Perc'] &gt; 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df_scontati = df_roma[cond_qta &amp; cond_sco]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Ordini Alto Valore NON di Cancelleria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df_target = df_roma[(df_roma['Categoria_Prodotto'] != 'Cancelleria') &amp;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(df_roma['Fatturato_Lordo'] &gt; 1500)]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Filtri Avanzati: .isin() e Ricerca Testuale con .str.contains()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🔍 Pattern Matching su Dati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.isin([valori]): Filtra righe il cui valore appartiene a un elenco predefinito.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.str.contains('keyword', case=False, na=False): Ricerca testuale parziale (case-insensitive).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na=False evita errori quando la colonna contiene valori nulli (NaN).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Utilissimo per individuare famiglie di prodotti (es. 'Server', 'Licenza', 'Laptop').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Ricerche Testuali e Liste di Valori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Filtro su elenco canali autorizzati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canali = ['E-commerce B2B', 'Partner Commerciale']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df_canali = df_roma[df_roma['Canale_Vendita'].isin(canali)]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Ricerca per parola chiave 'Server' nel prodotto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df_server = df_roma[df_roma['Nome_Prodotto'].str.contains(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'Server', case=False, na=False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Vettorializzazione e Colonne Calcolate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16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⚡ Calcoli Aritmetici Istantanei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 Pandas non si itera riga per riga: le operazioni tra colonne sono vettoriali.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df['Lordo'] = df['Quantita'] * df['Prezzo_Unitario'] viene calcolato istantaneamente su tutte le righe.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Creazione di nuove metriche derivate in una sola riga di codice.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Prestazioni ottimali garantite dall'esecuzione in linguaggio C sottostante.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Calcolo Vettorializzato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Operazione vettoriale diretta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df_calc = df_roma.copy()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df_calc['Lordo_Calcolato'] = 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df_calc['Quantita'] * 850.0  # Moltiplicazione scalare/vettoriale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print(df_calc[['Quantita', 'Lordo_Calcolato']].head(3))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Cast Numerico Sicuro con pd.to_numeric(errors='coerce')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17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🛡️ Gestione Errori di Conversione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Quando i dati contengono sporcature o refusi, float() lancia un'eccezione bloccante.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pd.to_numeric(..., errors='coerce') converte i valori validi e trasforma i refusi in NaN senza interrompere l'esecuzione.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Pulizia preventiva con .str.replace('€', '').str.replace(',', '.').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Permette di isolare e diagnosticare rapidamente i record anomali.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Conversione con Coerce a NaN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Pulizia stringa e conversione sicura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p_clean = 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df_roma['Prezzo_Unitario']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.astype(str)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.str.replace('€', '', regex=False)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.str.replace(',', '.', regex=False)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.str.strip()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df_roma['Prezzo_Num'] = pd.to_numeric(p_clean, errors='coerce')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Calcolo Sconti, Margini e Fatturato Netto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18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💰 Definizione KPI Economici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Imponibile Lordo: Quantita * Prezzo_Unitario_Num.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Valore Sconto: Lordo * (Sconto_Perc / 100).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Fatturato Netto: Lordo - Valore Sconto.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Arrotondamento coerente a 2 cifre decimali per l'allineamento con la contabilità.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Pipeline di Calcolo Finanziario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Calcolo completo delle colonne economiche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df_roma['Totale_Lordo'] = df_roma['Quantita'] * df_roma['Prezzo_Num']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df_roma['Valore_Sconto'] = df_roma['Totale_Lordo'] * (df_roma['Sconto_Perc'] / 100.0)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df_roma['Fatturato_Netto'] = round(df_roma['Totale_Lordo'] - df_roma['Valore_Sconto'], 2)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print(df_roma[['Totale_Lordo', 'Valore_Sconto', 'Fatturato_Netto']].head(3))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Ordinamento Dati con .sort_values() &amp; Top Deals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19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🏆 Ranking e Analisi di Pareto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df.sort_values(by='colonna', ascending=False) ordina i record in modo decrescente.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Ordinamento multi-colonna: by=['Filiale', 'Fatturato_Netto'], ascending=[True, False].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Estrazione istantanea dei Top 10 Deals aziendali con .head(10).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Identificazione dei clienti strategici (Key Accounts).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Estrazione Top 10 Contratti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Estrazione Top 10 Contratti per Fatturato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top_10 = df_roma.sort_values(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by='Fatturato_Netto', ascending=False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)[['ID_Transazione', 'Ragione_Sociale', 'Nome_Prodotto', 'Fatturato_Netto']].head(10)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print(top_10.to_string(index=False))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Statistiche Descrittive e Metriche di Posizione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20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📈 Indicatori Statistici di Sintesi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Media vs Mediana: quando i dati sono asimmetrici o ci sono outlier, la mediana è più robusta.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.sum(): Fatturato cumulato totale della filiale.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.mean() e .median(): Ticket medio e valore mediano per ordine.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.quantile([0.25, 0.50, 0.75]): Analisi della distribuzione e percentili di spesa.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Calcolo Metriche di Sintesi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tot_fatt = df_roma['Fatturato_Netto'].sum()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avg_fatt = df_roma['Fatturato_Netto'].mean()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med_fatt = df_roma['Fatturato_Netto'].median()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p90 = df_roma['Fatturato_Netto'].quantile(0.90)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print(f'Totale: € {tot_fatt:,.2f}')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print(f'Media:  € {avg_fatt:,.2f} | Mediana: € {med_fatt:,.2f}')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print(f'90° Percentile: € {p90:,.2f}')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Analisi delle Frequenze con .value_counts()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21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📊 Distribuzione dei Volumi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df['Canale'].value_counts() conta il numero di transazioni per ciascuna categoria.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Parametro normalize=True restituisce la quota percentuale sul totale.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Parametro dropna=False include i valori mancanti per verificare l'integrità dei dati.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Strumento indispensabile per capire la composizione del canale distributivo.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Quote Canali di Vendita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Conteggio assoluto per canale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print(df_roma['Canale_Vendita'].value_counts())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Quote percentuali di vendita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quote = df_roma['Canale_Vendita'].value_counts(normalize=True) * 100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for canale, pct in quote.items():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print(f'{canale:20}: {pct:5.1f}%')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2: PANDAS FONDAMENTI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Recap Modulo 2: Padronanza del DataFrame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🎯 Competenze Acquisite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Caricamento ed esplorazione di file Excel complessi.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Filtri logici con condizioni multiple e operatori &amp;, |, ~.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Creazione di colonne calcolate vettoriali e cast numerico sicuro.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Ordinamento, statistiche descrittive e Top Deals.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🚀 Verso il Data Wrangling (Modulo 3)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Nel dataset reale abbiamo notato 48 duplicati e date con formati diversi.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Nel Modulo 3 affronteremo la bonifica professionale: deduplicazione, imputazione nulli, parsing date miste.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Collegheremo le vendite con l'anagrafica clienti ufficiale tramite le JOIN relazionali (pd.merge).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Costruiremo aggregazioni avanzate con groupby().agg().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Anatomia del 'Dirty Data' nei Gestionali Aziendali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⚠️ I 4 Grandi Problemi dei Dati Reali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1. Record Duplicati: Ordini inseriti due volte da utenti diversi.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2. Formati Data Misti: ISO, date italiane, seriali Excel ('45506'), testo ('15-Mar-2024').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3. Valori Mancanti (NaN): Prezzi o quantità omesse nei form.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4. Categorie e Testi Sporchi: 'HW', 'Hardware ', 'Softwre', spazi e maiuscole errate.</a:t>
            </a:r>
          </a:p>
        </p:txBody>
      </p:sp>
      <p:pic>
        <p:nvPicPr>
          <p:cNvPr id="9" name="Picture 8" descr="diagramma_relazionale_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Rilevamento ed Eliminazione Record Duplicati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🧹 Pulizia dei Duplicati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df.duplicated(): Identifica le righe duplicate restituendo una maschera booleana.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Parametro subset=['ID_Transazione']: Controlla duplicati solo su colonne chiave.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df.drop_duplicates(keep='first'): Mantiene la prima occorrenza ed elimina i doppioni.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Verifica: conteggio righe prima e dopo la rimozione per tracciare i record scartati.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Deduplicazione con drop_duplicates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Diagnosi e rimozione duplicati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n_init = len(df_roma)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n_dup = df_roma.duplicated().sum()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print(f'Duplicati rilevati: {n_dup}')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 = df_roma.drop_duplicates().copy()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print(f'Righe pulite: {len(df_clean)} (rimosse: {n_init - len(df_clean)})')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Standardizzazione Stringhe e Categorie Merceologiche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🔤 Pulizia Testuale e Normalizzazione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Rimozione spazi bianchi parassiti con .str.strip().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Uniformazione codici anagrafici in maiuscolo con .str.upper().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Mappatura delle categorie disallineate ('HW', 'Hardwre' ➔ 'Hardware') tramite dizionari o funzioni di classificazione con .apply().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Riconduzione a uno schema standard a 4 categorie ufficiali.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Funzione di Trascodifica Categorie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def normalizza_cat(val):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pd.isna(val): return 'Altro'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 = str(val).strip().lower()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'hard' in s or 'hw' in s: return 'Hardware'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'soft' in s or 'sw' in s: return 'Software'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'serv' in s: return 'Servizi'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'canc' in s: return 'Cancelleria'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return 'Altro'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df_clean['Categoria'] = df_clean['Categoria_Prodotto'].apply(normalizza_cat)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La Sfida delle Date: Gestione Formati Misti ed Excel Serials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26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📅 Disomogeneità Temporale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Excel memorizza le date come numero di giorni trascorsi dal 30/12/1899 (es. 45506 = 02/08/2024).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Nei file esportati coesistono date ISO ('2024-05-06'), italiane ('06/05/2024') e seriali interi.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pd.to_datetime da solo fallisce o interpreta male giorni e mesi se non guidato.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Soluzione: Funzione di parsing ibrida e robusta.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Algoritmo di Parsing Date Miste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Parsing seriale Excel e date miste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datetime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def parse_data_ibrida(val):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pd.isna(val): return pd.NaT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 = str(val).strip()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s.isdigit(): # Seriale Excel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dt = datetime.date(1899, 12, 30) + datetime.timedelta(days=int(s))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return pd.to_datetime(dt)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return pd.to_datetime(s, format='mixed', dayfirst=True)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Feature Engineering Temporale: Mesi, Trimestri e Giorni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27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⏱️ Arricchimento del Dato Temporale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L'accessore .dt permette di estrarre componenti atomiche da colonne datetime64.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.dt.year, .dt.month, .dt.day: Componenti numeriche.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.dt.strftime('%B'): Nome del mese per grafici ed etichette.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.dt.to_period('Q'): Trimestre fiscale (2024Q1, 2024Q2) per la reportistica trimestrale.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Estrazione Componenti Temporali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df_clean['Data_dt'] = df_clean['Data_Vendita'].apply(parse_data_ibrida)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df_clean['Data_dt'] = pd.to_datetime(df_clean['Data_dt'])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df_clean['Anno'] = df_clean['Data_dt'].dt.year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df_clean['Mese'] = df_clean['Data_dt'].dt.month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df_clean['Mese_Nome'] = df_clean['Data_dt'].dt.strftime('%b')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df_clean['Trimestre'] = df_clean['Data_dt'].dt.to_period('Q').astype(str)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Trattamento Professionale dei Valori Mancanti (Imputazione)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28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🩹 Drop vs Imputazione Intelligente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Cancellare righe con dropna() riduce il campione e distorce i totali di vendita.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Imputare con la media globale mescola prezzi di Server (1.850€) con Cancelleria (45€).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Soluzione migliore: Imputazione condizionale per gruppo con transform('mean') o transform('median').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Il prezzo mancante di un Server viene sostituito con la media dei soli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Imputazione Condizionale con transform()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Imputazione del prezzo medio per specifico prodotto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media_prod = df_clean.groupby('Nome_Prodotto')['Prezzo_Num'].transform('mean')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df_clean['Prezzo_Unitario_Fin'] = df_clean['Prezzo_Num'].fillna(media_prod)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Imputazione quantita con mediana per prodotto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med_qta = df_clean.groupby('Nome_Prodotto')['Quantita'].transform('median')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df_clean['Quantita_Fin'] = df_clean['Quantita'].fillna(med_qta).astype(int)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Integrazione Dati: Concetti di JOIN Relazionale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29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🔗 Modello Relazionale dei Dati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Tabella dei Fatti: Transazioni di vendita (molte righe, contiene chiavi esterne FK).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Tabella Dimensionale: Anagrafica Clienti (una riga per cliente, chiave primaria PK).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Left Join: Mantiene tutte le vendite e aggancia i dettagli anagrafici corrispondenti.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Evitare duplicazioni cartesiane verificando l'univocità della chiave nell'anagrafica.</a:t>
            </a:r>
          </a:p>
        </p:txBody>
      </p:sp>
      <p:pic>
        <p:nvPicPr>
          <p:cNvPr id="9" name="Picture 8" descr="diagramma_relazionale_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Implementazione della JOIN con pd.merge()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30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🛠️ Sintassi e Parametri Chiave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pd.merge(left, right, on='Codice_Cliente', how='left').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Arricchimento del dataset vendite con: Settore merceologico, Sede e Rating creditizio.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Trattamento dei non abbinati: .fillna('Non Specificato').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Verifica finale del numero di righe: non deve aumentare dopo una Left Join 1-a-molti.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Merge con Anagrafica Clienti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Caricamento anagrafica clienti ufficiale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df_anag = pd.read_excel('dataset/raw/roma.xlsx', sheet_name='Anagrafica_Clienti')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df_anag['Codice_Cliente'] = df_anag['Codice_Cliente'].str.strip().str.upper()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Esecuzione Left Join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df_merged = pd.merge(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df_clean,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df_anag[['Codice_Cliente', 'Settore', 'Citta_Sede', 'Rating_Affidabilita']],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on='Codice_Cliente', how='left'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df_merged['Settore'] = df_merged['Settore'].fillna('Non Specificato')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Raggruppamenti Strategici con groupby() e .agg()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31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📊 Il Paradigma Split-Apply-Combine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Split: Suddivide il DataFrame in gruppi (es. per Settore cliente).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Apply: Applica funzioni statistiche a ciascun gruppo (somma, media, conteggio).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Combine: Ricompone i risultati in una tabella riepilogativa ordinata.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Named Aggregation con .agg(): Consente di rinominare le metriche direttamente all'interno della chiamata.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Named Aggregations con .agg()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Calcolo KPI di performance per Settore cliente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report_settore = df_merged.groupby('Settore').agg(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Fatturato_Totale=('Fatturato_Netto', 'sum'),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Sconto_Medio_Perc=('Sconto_Perc', 'mean'),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Numero_Ordini=('ID_Transazione', 'count'),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Pezzi_Venduti=('Quantita_Fin', 'sum')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).reset_index().sort_values(by='Fatturato_Totale', ascending=False)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print(report_settore.head(3).to_string(index=False))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Laboratorio 3: Data Cleaning Completo e Report Settori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🧪 Esercitazione Pratica Studenti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File: laboratori/lab03_data_wrangling/lab03_esercizi.py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1: Rimuovere i 48 duplicati esatti dal dataset Roma.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2: Normalizzare le categorie merceologiche su 4 classi standard.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3: Effettuare il parsing del 100% delle date eterogenee.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4: Imputare prezzi e quantità mancanti con medie/mediane per prodotto.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5: Effettuare il merge con l'anagrafica clienti e produrre il report per settore.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Output Atteso (lab03_esercizi.py)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--- VERIFICA OUTPUT LABORATORIO 3 ---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Righe iniziali: 1248 | Duplicati: 48 | Rimanenti: 1200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Date valide: 1200 / 1200 (100% corrette)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Top Settori per Fatturato Netto: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1. Editoria &amp; Cultura:        € 468.706,11 (110 ordini)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2. Trasporti &amp; Logistica:     € 465.959,68 (102 ordini)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3. Information Technology:    € 397.243,77 ( 95 ordini)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4. Commercio al Dettaglio:    € 370.229,06 ( 95 ordini)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5. Manifatturiero:            € 360.685,56 ( 90 ordini)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Tabelle Pivot Bidimensionali con pd.pivot_table()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🔲 Matrici di Dati Incrociate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pd.pivot_table(df, index='Righe', columns='Colonne', values='Valori', aggfunc='sum').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Crea matrici bidimensionali pronte per l'analisi incrociata (es. Canale x Categoria).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Parametro fill_value=0 per sostituire celle vuote con zeri.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Parametro margins=True per inserire totali complessivi di riga e colonna.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Costruzione Matrice Pivot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Tabella Pivot: Canale di Vendita x Categoria Prodotto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pivot_canale_cat = pd.pivot_table(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df_merged,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index='Canale_Vendita',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columns='Categoria',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values='Fatturato_Netto',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aggfunc='sum',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fill_value=0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print((pivot_canale_cat / 1000.0).round(1))  # In k€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3: DATA WRANGLING &amp; MERGE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Recap Modulo 3: Pipeline di Bonifica Dati Certificata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🎯 Competenze Acquisite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Deduplicazione sicura e normalizzazione stringhe anagrafiche.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Parsing robusto di date miste, seriali Excel e formati testuali.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Imputazione condizionale intelligente senza distorsione dei totali.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Integrazione relazionale (Left Join) con anagrafiche esterne e Named Aggregations.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🚀 Verso la Visualizzazione (Modulo 4)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Ora che i dati sono puliti, coerenti e certificati, possiamo visualizzarli.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Nel Modulo 4 utilizzeremo Matplotlib e Seaborn per trasformare i numeri in grafici per il CdA.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Creeremo barplot con etichette k€, serie temporali con linee di target, heatmap e l'Executive Dashboard 2x2.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Impareremo a esportare grafici ad alta risoluzione (300 DPI) per la stampa.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Principi di Data Storytelling e Visualizzazione Direzionale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📊 Regole per Grafici Efficaci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Eliminare il disordine (Chartjunk): no 3D, no gradienti inutili, no griglie pesanti.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Scegliere il tipo di grafico corretto per la domanda di business: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Confronti tra entità ➔ Bar Chart orizzontale o verticale.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Trend ed evoluzione temporale ➔ Line Chart con marker.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Relazioni incrociate ➔ Heatmap con annotazioni.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Dispersione e outlier ➔ Boxplot.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Unità di misura sempre esplicitate (k€, %, M€) e titoli auto-esplicativi.</a:t>
            </a:r>
          </a:p>
        </p:txBody>
      </p:sp>
      <p:pic>
        <p:nvPicPr>
          <p:cNvPr id="9" name="Picture 8" descr="executive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Anatomia di Matplotlib: Figure e Axes (Approccio OOP)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36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📐 Architettura Orientata a Oggetti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Figure: Il contenitore generale / canvas della grafica.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Axes: Il singolo grafico con asse X, asse Y, titoli, griglia e tick.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Sintassi standard: fig, ax = plt.subplots(figsize=(10, 5)).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Controllo totale su margini, spaziature, label e DPI di rendering.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Struttura Base Matplotlib OOP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Creazione canvas OOP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fig, ax = plt.subplots(figsize=(9, 4.5), dpi=150)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ax.set_title('Titolo del Grafico', fontsize=12, fontweight='bold')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ax.set_xlabel('Asse X (Unità)', fontweight='bold')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ax.set_ylabel('Asse Y (Unità)', fontweight='bold')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ax.grid(True, linestyle='--', alpha=0.6)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plt.tight_layout()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Bar Chart Orizzontale con Etichette Dati (Top Clienti)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37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🏆 Evidenziare i Key Accounts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ax.barh(categorie, valori) crea barre orizzontali leggibili anche con nomi lunghi.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Divisione per 1.000 per esprimere gli importi in k€.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Ciclo di annotazione per scrivere il valore numerico direttamente accanto a ciascuna barra.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Ordinamento crescente per avere il cliente top in cima alla vista.</a:t>
            </a:r>
          </a:p>
        </p:txBody>
      </p:sp>
      <p:pic>
        <p:nvPicPr>
          <p:cNvPr id="9" name="Picture 8" descr="ex4_1_top_clie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Serie Temporali: Trend Mensile con Linea di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38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📅 Monitorare l'Andamento Temporale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ax.plot(mesi, valori, marker='o', linewidth=2.5, color='#2ca02c') traccia la curva di vendita.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ax.axhline(media, color='red', linestyle='--') inserisce una linea di target o media annuale.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Etichette dei mesi chiare (Gen, Feb, Mar...) tramite ax.set_xticks() e set_xticklabels().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Legenda posizionata in modo strategico per non coprire i punti dati.</a:t>
            </a:r>
          </a:p>
        </p:txBody>
      </p:sp>
      <p:pic>
        <p:nvPicPr>
          <p:cNvPr id="9" name="Picture 8" descr="ex4_2_trend_mens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Seaborn: Visualizzazioni Statistiche e Design Moderno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39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🎨 Eleganza e Statistica Avanzata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Libreria di alto livello costruita su Matplotlib, integrata nativamente con DataFrame Pandas.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Temi professionali preconfigurati: sns.set_theme(style='whitegrid').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Palette di colori armonizzate: 'Blues', 'Set2', 'viridis', 'YlGnBu'.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Gestione automatica di raggruppamenti con il parametro hue.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Utilizzo Rapido di Seaborn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Configurazione globale tema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sns.set_theme(style='whitegrid', font='sans-serif')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Barplot raggruppato Categoria x Canale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fig, ax = plt.subplots(figsize=(8, 4))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sns.barplot(data=df_clean, x='Categoria', y='Fatturato_Netto',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hue='Canale_Vendita', errorbar=None, ax=ax)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ax.set_ylabel('Fatturato Medio (€)')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plt.tight_layout()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Analisi delle Distribuzioni e Outlier: Boxplot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40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📦 Diagnostica della Dispersione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Anatomia del Boxplot: Mediana (linea centrale), Box (50% dei dati tra Q1 e Q3), Baffi (1.5 * IQR).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Punti isolati oltre i baffi: Outlier commerciali (sconti anomali o transazioni eccezionali).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sns.boxplot(data=df, x='Canale_Vendita', y='Sconto_Perc') confronta la politica sconti tra canali.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Permette al management di verificare se gli agenti rispettano i limiti di sconto.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Boxplot Sconti con Seaborn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Boxplot distribuzione sconti per canale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fig, ax = plt.subplots(figsize=(8, 4))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sns.boxplot(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data=df_clean,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x='Canale_Vendita',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y='Sconto_Perc',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hue='Canale_Vendita',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palette='Set2',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legend=False,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ax=ax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ax.set_title('Distribuzione Sconti per Canale')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Heatmap: Matrice Termica Canale vs Categoria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41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🔥 Mappe Termiche di Concentrazione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Visualizza l'incrocio tra due variabili categoriche tramite intensità di colore.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Input: Tabella Pivot con somme di fatturato in k€.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sns.heatmap(pivot, annot=True, fmt='.1f', cmap='YlGnBu') mostra i numeri all'interno di ogni cella.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Individua a colpo d'occhio dove si concentra la maggior parte del business.</a:t>
            </a:r>
          </a:p>
        </p:txBody>
      </p:sp>
      <p:pic>
        <p:nvPicPr>
          <p:cNvPr id="9" name="Picture 8" descr="ex4_3_heatmap_mat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Composizione Multi-Grafico: Griglia 2x2 (Subplots)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🔲 Costruzione del Cruscotto Statico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fig, axes = plt.subplots(2, 2, figsize=(16, 10)) genera una matrice di 4 assi indipendenti.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axes[0, 0]: Grafico a linee (Trend Mensile).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axes[0, 1]: Grafico a barre (Fatturato per Categoria).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axes[1, 0]: Boxplot (Sconti per Canale).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axes[1, 1]: Heatmap (Matrice Canale x Categoria).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Titolo generale d'impatto con fig.suptitle().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Template Griglia Subplots 2x2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fig, axes = plt.subplots(2, 2, figsize=(16, 10))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fig.suptitle('EXECUTIVE SALES DASHBOARD 2024', fontsize=16, fontweight='bold')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[0,0] Trend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axes[0, 0].plot(mesi, trend_val, marker='o')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[0,1] Categorie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axes[0, 1].bar(cat_labels, cat_val)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[1,0] Boxplot Sconti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sns.boxplot(data=df, x='Canale', y='Sconto', ax=axes[1, 0])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[1,1] Heatmap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sns.heatmap(pivot_matrice, ax=axes[1, 1])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plt.tight_layout()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Executive Dashboard 2x2 Completa per il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📑 La Tavola Direzionale Completa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Cruscotto direzionale integrato: 4 visualizzazioni complementari in un'unica schermata.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1. Andamento nel tempo (Stagionalità e picchi).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2. Composizione del catalogo (Hardware vs Software).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3. Disciplina commerciale (Controllo sconti per canale).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4. Matrice distributiva (Canale x Prodotto).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Esportazione vettoriale o raster ad alta risoluzione (300 DPI).</a:t>
            </a:r>
          </a:p>
        </p:txBody>
      </p:sp>
      <p:pic>
        <p:nvPicPr>
          <p:cNvPr id="9" name="Picture 8" descr="executive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Laboratorio 4: Creazione ed Esportazione del Report Grafico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🧪 Esercitazione Pratica Studenti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File: laboratori/lab04_visualizzazione/lab04_esercizi.py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1: Generare il barplot orizzontale Top 8 Clienti con valori formattati in k€.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2: Creare la serie storica mensile con marker e linea di media annuale.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3: Costruire la Heatmap Canale x Categoria.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4: Assemblare la griglia 2x2 ed esportare executive_report.png a 300 DPI.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Esportazione ad Alta Definizione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--- VERIFICA FILE GENERATI (dataset/generated/) ---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ex4_1_top_clienti.png      (Barplot Top Clienti)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ex4_2_trend_mensile.png     (Serie Storica)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ex4_3_heatmap_matrice.png   (Heatmap Canale x Categoria)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executive_report.png        (Dashboard 2x2 - 300 DPI)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Comando di esportazione ad alta definizione: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plt.savefig('executive_report.png', dpi=300, bbox_inches='tight')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4: VISUALIZZAZIONE &amp; REPORTING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Recap Modulo 4: Visual Storytelling dei Dati Aziendali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🎯 Competenze Acquisite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Padronanza dell'architettura OOP di Matplotlib (Figure/Axes).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Creazione di grafici statistici moderni con Seaborn.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Costruzione di tavole multi-plot 2x2 con formattazione professionale.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Esportazione di immagini ad alta risoluzione (300 DPI) per la stampa.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🚀 Verso l'Automazione Pipeline (Modulo 5)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Finora abbiamo lavorato solo sul file di Roma.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Nel Modulo 5 automatizzeremo l'intero flusso per processare contemporaneamente tutte le filiali (Roma, Milano, Torino).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Costruiremo uno script ETL batch che unisce i file, applica il cleaning e salva il database in formato compresso Apache Parquet.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Creeremo il generatore automatico del report Excel multi-scheda per il CdA.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Architettura di una Pipeline ETL Aziendale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46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⚙️ Da Script a Processo Industriale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Extract (E): Riconoscimento ed estrazione automatica dei file di tutte le filiali.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Transform (T): Pulizia centralizzata, deduplica, parsing date e join anagrafica.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Load (L): Salvataggio del master unificato in Apache Parquet e generazione del report Excel.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Vantaggio: Esecuzione in pochi secondi con un solo comando, azzerando gli errori manuali.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Orchestrazione della Pipeline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Flusso logico della Pipeline ETL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def run_pipeline():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logging.info('1. Ingestion dati filiali...')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df_raw, df_anag = carica_dati_filiali('dataset/raw')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logging.info('2. Trasformazione e bonifica...')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df_master = trasforma_dataset(df_raw, df_anag)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logging.info('3. Esportazione Parquet ed Excel...')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esporta_dataset(df_master, 'dataset/generated')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logging.info('Pipeline completata!')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Scansione Dinamica File con glob e Percorsi Portabili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47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📂 Gestione Dinamica del File System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Modulo glob: Ricerca file tramite pattern matching (es. glob.glob('dataset/raw/*.xlsx')).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Filtro intelligente: Esclusione di file temporanei lockati di Excel (~$) e file speciali.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Percorsi multipiattaforma: Utilizzo di os.path.join() o pathlib per garantire la compatibilità Linux/Windows.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Scalabilità: Quando una nuova filiale invia il suo file Excel, la pipeline la riconosce automaticamente.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Ricerca Dinamica File con glob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glob, os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def trova_file_filiali(cartella_input):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pattern = os.path.join(cartella_input, '*.xlsx')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files = glob.glob(pattern)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# Filtro file temporanei ed export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valori = [f for f in files if '~$' not in f and 'report' not in f]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print(f'Trovati {len(valori)} file da elaborare:')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for f in valori: print(' •', os.path.basename(f))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return valori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Ingestion Massiva e Fusione con pd.concat()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48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📑 Concatenazione Verticale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Lettura ciclica di tutti i fogli 'Dati_Vendite' e 'Anagrafica_Clienti'.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Gestione eccezioni con try/except per non interrompere il flusso se un file è corrotto.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pd.concat(lista_df, ignore_index=True) unisce tutti i DataFrame verticalmente in una frazione di secondo.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Deduplicazione dell'anagrafica clienti master con drop_duplicates(subset=['Codice_Cliente']).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Concatenazione Multi-Filiale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lista_vendite, lista_anag = [], []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for f in files_filiali: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df_v = pd.read_excel(f, sheet_name='Dati_Vendite')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lista_vendite.append(df_v)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df_a = pd.read_excel(f, sheet_name='Anagrafica_Clienti')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lista_anag.append(df_a)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df_raw_master = pd.concat(lista_vendite, ignore_index=True)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df_anag_master = pd.concat(lista_anag, ignore_index=True).drop_duplicates('Codice_Cliente')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Modularità: Centralizzazione delle Trasformazioni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49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🧼 La Funzione trasforma_dataset()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Tutte le regole di wrangling apprese nel Modulo 3 vengono incapsulate in un'unica funzione.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1. Deduplicazione su transazioni e chiavi composite.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2. Normalizzazione testi, codici cliente e categorie merceologiche.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3. Parsing del 100% delle date eterogenee e creazione feature temporali.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4. Imputazione condizionale prezzi/quantità e ricalcolo economico.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5. Join relazionale con l'anagrafica clienti master.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Pipeline di Trasformazione Modulare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def trasforma_dataset(df_raw, df_anag):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# 1. Deduplica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 = df_raw.drop_duplicates(subset=['ID_Transazione', 'Data_Vendita']).copy()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# 2. Stringhe e categorie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df['Categoria_Prodotto'] = df['Categoria_Prodotto'].apply(normalizza_categoria)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# 3. Date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df['Data_Vendita'] = pd.to_datetime(df['Data_Vendita'].apply(parse_data_flessibile))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# 4. Numerici e Merge Anagrafica...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return df_master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Logging Strutturato vs Print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50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📝 Monitoraggio di Produzione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 produzione i print() non bastano: serve tracciamento temporale e gravità degli eventi.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Modulo standard logging con formattazione: %(asctime)s [%(levelname)s] %(message)s.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Livelli standard: DEBUG, INFO (avanzamento), WARNING (anomalie non bloccanti), ERROR (errori).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Tracciamento immediato di: numero record letti, duplicati scartati, fatturato totale generato.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Configurazione del Logger Standard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logging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logging.basicConfig(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level=logging.INFO,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format='%(asctime)s [%(levelname)s] %(message)s',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datefmt='%H:%M:%S'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logging.info('Avvio elaborazione ETL...')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logging.info(f'Rimossi {n_dup} record duplicati.')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logging.info(f'Fatturato Consolidato: € {tot_netto:,.2f}')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Storage Ottimizzato in Apache Parquet per l'Analytics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51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💾 Il Formato Standard per i Big Data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Apache Parquet: Formato binario colonnare compresso (Snappy).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Compressione 5x rispetto a CSV e 10x rispetto a Excel.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Tipizzazione nativa perfetta: i tipi datetime e float rimangono preservati senza dover rieseguire il casting.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Velocità di lettura 10x superiore: la Dashboard Streamlit caricherà i dati in millisecondi con pd.read_parquet().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Salvataggio e Lettura Parquet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Salvataggio in Apache Parquet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parquet_path = 'dataset/generated/vendite_consolidate_italia.parquet'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df_master.to_parquet(parquet_path, index=False)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Benchmark di caricamento istantaneo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df_loaded = pd.read_parquet(parquet_path)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print(f'Master caricato: {len(df_loaded)} record in 12ms!')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Generazione Automatica del Report Excel Direzionale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📑 Excel Multi-Scheda per il Management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pd.ExcelWriter(..., engine='openpyxl') consente di scrivere più fogli nello stesso file.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Foglio 1: Dettaglio_Transazioni (Tutti i 3.600 record puliti e normalizzati).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Foglio 2: Riepilogo_Filiali (KPI aggregati per sede commerciale).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Foglio 3: Riepilogo_Categorie (Performance per linea di business).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Foglio 4: Riepilogo_Settori (Analisi per settore merceologico clienti).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Esportazione Multi-Scheda Excel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excel_path = 'dataset/generated/report_direzionale_consolidato.xlsx'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with pd.ExcelWriter(excel_path, engine='openpyxl') as writer: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df_master.to_excel(writer, sheet_name='Dettaglio_Transazioni', index=False)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kpi_filiali.to_excel(writer, sheet_name='Riepilogo_Filiali', index=False)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kpi_categorie.to_excel(writer, sheet_name='Riepilogo_Categorie', index=False)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kpi_settori.to_excel(writer, sheet_name='Riepilogo_Settori', index=False)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print('Report Excel generato con successo!')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5: AUTOMAZIONE PIPELINE ETL (2H)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Recap Modulo 5: Pipeline ETL End-to-End Eseguita con Successo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🎯 Competenze Acquisite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Ingestion multi-file automatica e indipendente dal sistema operativo.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Pipeline di trasformazione centralizzata ed incapsulata.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Logging strutturato per monitoraggio di produzione.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Doppio output: Apache Parquet per la web app ed Excel per la direzione.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🚀 Verso la Dashboard Streamlit (Modulo 6)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Il database nazionale consolidato (3.600 record puliti per oltre 12.6M€ di fatturato) è pronto in Parquet.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Nel Modulo 6 abbandoneremo i report statici e creeremo un'applicazione Web interattiva completa con Streamlit.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Aggiungeremo filtri dinamici a tendina, indicatori KPI, grafici reattivi, ricerca full-text e un simulatore di scenari What-If per il CdA.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Introduzione a Streamlit: Web Analytics in Pure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🌐 Il Paradigma Low-Code Python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Streamlit trasforma script Python in applicazioni web interattive in tempo reale.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Nessun bisogno di HTML, CSS o JavaScript: si scrive solo codice Python.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Modello di esecuzione reattivo: ogni volta che l'utente interagisce con un filtro, lo script si riesegue dall'alto verso il basso aggiornando la vista.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Comando di avvio: streamlit run dashboard/app.py.</a:t>
            </a:r>
          </a:p>
        </p:txBody>
      </p:sp>
      <p:pic>
        <p:nvPicPr>
          <p:cNvPr id="9" name="Picture 8" descr="mockup_dashboard_stream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Caching ad Alte Prestazioni con @st.cache_data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⚡ Velocità e Ottimizzazione Memoria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Dato che Streamlit riesegue lo script ad ogni clic, ricaricare il database Parquet dal disco sarebbe lento.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Il decoratore @st.cache_data memorizza il risultato della funzione in RAM.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Al secondo clic dell'utente, il dato viene servito istantaneamente dalla cache in 0 millisecondi.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Parametro ttl=600 (Time-To-Live) per invalidare la cache ogni 10 minuti.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Decoratore di Caching dei Dati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streamlit as st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@st.cache_data(ttl=600)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def load_dataset():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parquet_path = 'dataset/generated/vendite_consolidate_italia.parquet'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 = pd.read_parquet(parquet_path)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df['Data_Vendita'] = pd.to_datetime(df['Data_Vendita'])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return df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df_master = load_dataset()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Sidebar e Filtri Dinamici: st.sidebar e st.multiselect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56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🎛️ Pannello di Controllo Laterale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st.sidebar isola i filtri dal corpo centrale della pagina.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st.multiselect('Label', opzioni, default=opzioni): Menu a tendina a selezione multipla con badge rimovibili.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Filtri implementati: Filiali (Roma, Milano, Torino), Categorie Prodotto e Canali di Vendita.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Filtraggio immediato: df[df['Filiale'].isin(sel_filiali)].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Codice Sidebar e Multiselect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Sidebar con controlli multi-selezione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st.sidebar.title('🎛️ Filtri Commerciali')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filiali = sorted(df_master['Filiale'].unique())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sel_filiali = st.sidebar.multiselect('Filiali', filiali, default=filiali)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categorie = sorted(df_master['Categoria_Prodotto'].unique())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sel_cat = st.sidebar.multiselect('Categorie', categorie, default=categorie)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Applicazione dinamica dei filtri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df_filtrato = df_master[(df_master['Filiale'].isin(sel_filiali)) &amp;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(df_master['Categoria_Prodotto'].isin(sel_cat))]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Filtri Temporali a Calendario con st.date_input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57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📅 Selezione Intervallo Date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st.date_input('Periodo', value=(min_date, max_date)) crea un calendario a doppio selettore (Da / A).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Controllo di validità: Verificare che l'utente abbia selezionato entrambi gli estremi prima di applicare il filtro.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Filtraggio su colonna datetime con .dt.date tra data inizio e data fine.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Contatore dinamico del numero di record visualizzati nella sidebar.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Filtro Range Temporale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min_d = df_master['Data_Vendita'].min().date()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max_d = df_master['Data_Vendita'].max().date()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sel_date = st.sidebar.date_input('Periodo Analisi', (min_d, max_d))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if isinstance(sel_date, (list, tuple)) and len(sel_date) == 2: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start_d, end_d = sel_date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df_filtrato = df_filtrato[(df_filtrato['Data_Vendita'].dt.date &gt;= start_d) &amp;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                  (df_filtrato['Data_Vendita'].dt.date &lt;= end_d)]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Barra Superiore dei KPI con st.columns e st.metric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58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📈 Executive Summary Cards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st.columns(5) divide la larghezza della pagina in 5 colonne affiancate.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st.metric('Titolo', 'Valore', delta='Variazione') renderizza card con numeri grandi e indicatori di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Metriche chiave: 1. Fatturato Netto; 2. Volume Ordini; 3. Ticket Medio; 4. Sconto Medio %; 5. Pezzi Venduti.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Formattazione monetaria con separatori di migliaia e simbolo euro.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Creazione Barra KPI Cards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Calcolo metriche aggregate sui dati filtrati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tot_fatt = df_filtrato['Fatturato_Netto'].sum()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tot_ord  = len(df_filtrato)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ticket   = tot_fatt / tot_ord if tot_ord &gt; 0 else 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sconto   = df_filtrato['Sconto_Perc'].mean() if tot_ord &gt; 0 else 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c1, c2, c3, c4 = st.columns(4)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c1.metric('💰 Fatturato Netto', f'€ {tot_fatt:,.2f}')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c2.metric('📦 Volume Ordini', f'{tot_ord:,}')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c3.metric('🧾 Ticket Medio', f'€ {ticket:,.2f}')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c4.metric('🏷️ Sconto Medio', f'{sconto:.1f} %')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Organizzazione a Schede Orizzontali con st.tabs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59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📑 Struttura a 4 Schede Tematiche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st.tabs(['Scheda 1', 'Scheda 2', ...]) organizza contenuti complessi senza allungare la pagina.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Tab 1: 📈 Panoramica &amp; Trend (Serie temporali e performance categorie).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Tab 2: 👥 Clienti &amp; Settori (Top 10 Clienti e quote di mercato settoriali).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Tab 3: 🔮 Simulatore What-If (Scenari decisionali per il management).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Tab 4: 📋 Dati &amp; Export (Tabella interattiva, ricerca full-text e download CSV).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Sintassi dei Context Manager st.tabs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Dichiarazione delle schede tematiche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tab_kpi, tab_clienti, tab_whatif, tab_dati = st.tabs([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'📈 Panoramica &amp; Trend',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'👥 Clienti &amp; Settori',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'🔮 Simulatore What-If',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'📋 Dati &amp; Export'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])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with tab_kpi: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st.subheader('Trend Mensile e Categorie...')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with tab_clienti: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st.subheader('Analisi Clientela...')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Tab 1: Visualizzazione Trend e Categorie con st.pyplot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60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📊 Grafici Reattivi ai Filtri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st.pyplot(fig) visualizza grafici Matplotlib e Seaborn all'interno dell'applicazione web.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Divisione in due colonne (st.columns([3, 2])) per affiancare il trend temporale e le categorie.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Trend multi-filiale: curve separate per Roma, Milano e Torino che si adattano ai filtri sidebar.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Chiusura obbligatoria con plt.close(fig) per rilasciare memoria su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Rendering Grafico Reattivo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with tab_kpi: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col_left, col_right = st.columns([3, 2])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with col_left: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# Trend mensile per filiale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fig, ax = plt.subplots(figsize=(8, 4))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for fil in sel_filiali: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sub = df_filtrato[df_filtrato['Filiale'] == fil]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t = sub.groupby('Mese')['Fatturato_Netto'].sum() / 1000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ax.plot(t.index, t.values, marker='o', label=fil)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ax.legend()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st.pyplot(fig)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plt.close(fig)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Tab 2: Ranking Top Clienti e Quote per Settore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61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🏆 Analisi Clientela e Mercato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st.dataframe(..., use_container_width=True) renderizza tabelle interattive con ordinamento al clic.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Formattazione monetaria elegante tramite df.style.format({'Fatturato': '€ {:,.2f}'}).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Grafico a torta / ciambella (Donut Chart) delle quote per settore merceologico.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Ispezione immediata dei migliori clienti aziendali e della loro incidenza sul fatturato.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Ranking Clienti e Grafico Settori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with tab_clienti: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c1, c2 = st.columns(2)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with c1: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top_c = df_filtrato.groupby('Ragione_Sociale').agg(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Fatturato=('Fatturato_Netto', 'sum'),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Ordini=('ID_Transazione', 'count')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).sort_values('Fatturato', ascending=False).head(10)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st.dataframe(top_c.style.format({'Fatturato': '€ {:,.2f}'}))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with c2: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# Donut Chart quote per settore...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st.pyplot(fig_settori)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Tab 4: Esploratore Dati, Ricerca Full-Text ed Export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🔍 Self-Service Data Discovery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Campo di ricerca libera con st.text_input() per cercare per nome cliente o prodotto.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Filtraggio al volo durante la digitazione con .str.contains().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Pulsante di download nativo con st.download_button().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L'utente business può scaricare il dataset filtrato in formato CSV con un solo clic per ulteriori analisi personali.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Motore di Ricerca ed Export CSV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with tab_dati: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q = st.text_input('🔍 Cerca cliente, prodotto o codice:')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df_show = df_filtrato.copy()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if q: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m = df_show['Ragione_Sociale'].str.contains(q, case=False, na=False) |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 df_show['Nome_Prodotto'].str.contains(q, case=False, na=False)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df_show = df_show[m]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st.dataframe(df_show.head(100))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# Download Button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csv = df_show.to_csv(index=False).encode('utf-8')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st.download_button('📥 Scarica CSV', csv, 'export.csv', 'text/csv')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Tab 3: Simulatore Decisionale di Scenario ('What-If Analysis')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🔮 Strumento di Supporto alle Decisioni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Consente al management di simulare l'impatto di variazioni commerciali sul fatturato totale.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Slider 1: Variazione percentuale del volume vendite (+/- 50%).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Slider 2: Variazione dei punti percentuali di sconto (+/- 15%).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Ricalcolo istantaneo del fatturato simulato con delta monetario e percentuale rispetto alla situazione attuale.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Valore strategico altissimo: trasforma la dashboard da mero strumento di reportistica a tool decisionale.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Logica del Simulatore What-If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with tab_whatif: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w1, w2 = st.columns(2)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d_vol = w1.slider('📈 Variazione Volume (%)', -50, 50, 0, 5)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d_sco = w2.slider('🏷️ Variazione Sconto (pt %)', -15, 15, 0, 1)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# Simulazione ricalcolata al volo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qta_sim = df_filtrato['Quantita'] * (1 + d_vol / 100.0)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sco_sim = (df_filtrato['Sconto_Perc'] + d_sco).clip(0, 100)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fatt_sim = (qta_sim * df_filtrato['Prezzo_Unitario'] * (1 - sco_sim/100)).sum()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delta_val = fatt_sim - tot_fatt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st.metric('Fatturato Previsto', f'€ {fatt_sim:,.2f}', delta=f'{delta_val:+,.2f} €')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Personalizzazione Grafica e Custom CSS in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🎨 Look &amp; Feel Aziendale Professionale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Iniezione di CSS personalizzato tramite st.markdown(..., unsafe_allow_html=True).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Personalizzazione di font, card shadow, bordi colorati ed evidenziazione dei blocchi metrici.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Immagini e loghi aziendali nella sidebar con st.sidebar.image().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Badge di stato, avvisi operativi con st.info(), st.success(), st.warning().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Custom CSS Styling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Iniezione CSS per card metriche personalizzate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st.markdown('''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&lt;style&gt;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.main-metric-box {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background-color: #f8f9fa;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border-left: 5px solid #1E88E5;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padding: 12px;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border-radius: 6px;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&lt;/style&gt;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''', unsafe_allow_html=True)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Laboratorio 6: Sviluppo della Web App Aziendale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🧪 Esercitazione Pratica Studenti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File starter: laboratori/lab06_dashboard_streamlit/app_starter.py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1: Configurare pagina e caching del dataset Parquet con @st.cache_data.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2: Creare la sidebar con i filtri per Filiale, Categoria e Date.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3: Implementare la barra superiore delle 5 card KPI.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Task 4: Sviluppare le 4 schede orizzontali (Trend, Clienti, What-If, Dati ed Export CSV).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Comando di test: streamlit run dashboard/app.py.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Checklist di Collaudo Dashboard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--- VERIFICA FUNZIONALITÀ DASHBOARD ---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🚀 Web Server avviato su http://localhost:8501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Caching Parquet attivo (caricamento &lt; 20ms)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Filtri sidebar interattivi operativi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5 KPI Cards dinamiche allineate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Grafici reattivi Matplotlib/Seaborn in Tab 1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Ranking clienti e torta settori in Tab 2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Simulatore What-If con slider real-time in Tab 3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✅ Ricerca testuale e download CSV in Tab 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6: DASHBOARD STREAMLIT (4H)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Recap Modulo 6: Dalla Tabella Statica alla Web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66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🎯 Competenze Acquisite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Creazione di Web App responsive e interattive in puro Python.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Ottimizzazione delle performance con caching in memoria RAM.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Sviluppo di cruscotti decisionali con slider di simulazione scenario.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Funzionalità di ricerca full-text e self-service download dati per gli utenti business.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🚀 Verso il Deploy Linux (Modulo 7)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La nostra applicazione funziona sul computer locale, ma se chiudiamo il portatile nessuno può più accedervi.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Nel Modulo 7 vedremo come trasformarla in un servizio sempre attivo 24/7 su un server Linux aziendale.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In modalità LIVE DEMO, configureremo il demone Systemd per l'avvio automatico al boot e il riavvio in caso di crash.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7: DEPLOY SERVER LINUX (1H) -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Architettura di Produzione su Server Linux 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67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🏢 Dal Laptop Locale al Server Aziendale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Obiettivo: Rendere la dashboard accessibile 24 ore su 24 a tutti i dipendenti aziendali.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Ambiente server: Linux Ubuntu/Debian con Virtual Environment isolato.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Architettura a 3 livelli: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1. Client Browser (Utente)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2. Nginx Reverse Proxy (Porta standard 80/443 con SSL)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3. Demone Systemd in background (Gestione del processo Streamlit).</a:t>
            </a:r>
          </a:p>
        </p:txBody>
      </p:sp>
      <p:pic>
        <p:nvPicPr>
          <p:cNvPr id="9" name="Picture 8" descr="diagramma_deploy_lin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7: DEPLOY SERVER LINUX (1H) -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Configurazione del Demone Systemd: dashboard_vendite.service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68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⚙️ Anatomia del File Unit di Sistema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Posizione standard: /etc/systemd/system/dashboard_vendite.service.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Sezione [Unit]: Descrizione del servizio e dipendenze di rete (After=network.target).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Sezione [Service]: Utente di esecuzione non-root, WorkingDirectory, comando ExecStart.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Politica di resilienza: Restart=always e RestartSec=5 per riavviare l'app in caso di crash.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Sezione [Install]: WantedBy=multi-user.target per l'avvio automatico al boot del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Unit File Systemd di Produzione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File: /etc/systemd/system/dashboard_vendite.service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[Unit]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Description=Dashboard Direzionale Vendite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After=network.target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[Service]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Type=simple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User=arny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WorkingDirectory=/path/to/corso_python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ExecStart=/path/to/.venv/bin/streamlit run dashboard/app.py \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--server.port 8501 --server.headless true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Restart=always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RestartSec=5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[Install]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WantedBy=multi-user.target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7: DEPLOY SERVER LINUX (1H) -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Amministrazione del Servizio con systemctl e Script di Provisioning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69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🛠️ Comandi Operativi di Amministrazione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sudo systemctl daemon-reload: Ricarica le configurazioni di sistema.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sudo systemctl enable dashboard_vendite: Abilita l'avvio automatico all'accensione del server.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sudo systemctl start dashboard_vendite: Avvia il demone in background.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sudo systemctl status dashboard_vendite: Ispezione in tempo reale dello stato (active / running).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Script di automazione: laboratori/lab07_deploy_linux/setup_service.sh.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Stato Attivo del Servizio su Linux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$ sudo systemctl status dashboard_vendite.service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● dashboard_vendite.service - Dashboard Direzionale Vendite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Loaded: loaded (/etc/systemd/system/dashboard_vendite.service)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Active: active (running) since Mon 2026-09-15 10:00:00 CEST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Main PID: 42150 (streamlit)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Tasks: 8 (limit: 18880)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Memory: 142.5M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CPU: 1.250s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CGroup: /system.slice/dashboard_vendite.service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       └─42150 /path/.venv/bin/python .../streamlit run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MODULO 7: DEPLOY SERVER LINUX (1H) -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Monitoraggio dei Log con journalctl &amp; Cenni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70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🔍 Diagnostica e Sicurezza Perimetrale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sudo journalctl -u dashboard_vendite.service -f: Streaming continuo dei log in tempo reale.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Ispezione errori e tracciamento delle connessioni degli utenti.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Reverse Proxy Nginx: Espone l'app sulla porta web standard (80/443) senza mostrare la porta interna 8501.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Firewall UFW: Chiusura delle porte interne e abilitazione del solo traffico web autorizzato.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Streaming Log con journalctl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Streaming log in tempo reale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$ sudo journalctl -u dashboard_vendite.service -f -n 20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10:00:01 [INFO] Uvicorn server started on 0.0.0.0:8501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10:00:05 [INFO] Caching data: 3600 records loaded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10:01:12 [INFO] User session started: IP 192.168.1.56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# Configurazione Reverse Proxy Nginx: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location / {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proxy_pass http://127.0.0.1:8501;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    proxy_set_header Upgrade $http_upgrade;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PROJECT WORK FINALE &amp; VALUTAZIONE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Project Work Finale: Acquisizione Filiale di Napoli (3H)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71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🏢 La Sfida Aziendale Conclusiva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Contesto: A fine anno l'azienda si espande nel Sud Italia aprendo la nuova sede di Napoli.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Dataset di progetto: dataset/raw/napoli_project_work.xlsx (1.144 record grezzi).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Missione: Lavorando in autonomia o a coppie, integrare Napoli nella pipeline nazionale per consolidare a 4 filiali.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Rispondere ai quesiti strategici del CdA ed estendere le analisi di business.</a:t>
            </a:r>
          </a:p>
        </p:txBody>
      </p:sp>
      <p:pic>
        <p:nvPicPr>
          <p:cNvPr id="9" name="Picture 8" descr="pw_confronto_filia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PROJECT WORK FINALE &amp; VALUTAZIONE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Specifiche Tecniche del Project Work &amp; Rubrica di Valutazione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72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📋 Le 4 Fasi del Progetto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Fase 1 (25 pt): Data Wrangling su Napoli (deduplica, parsing date, imputazione).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Fase 2 (25 pt): Consolidamento nazionale a 4 filiali in Parquet (4.700 record totali).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Fase 3 (25 pt): Calcolo KPI di business (quota % Napoli, top categorie, canali più efficaci).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Fase 4 (25 pt): Produzione dei 3 grafici di benchmark e aggiornamento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1E88E5"/>
                </a:solidFill>
                <a:latin typeface="Trebuchet MS"/>
              </a:defRPr>
            </a:pPr>
            <a:r>
              <a:t>💻 Rubrica di Valutazione Ufficiale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--- GRIGLIA DI VALUTAZIONE (100 PUNTI) ---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• Data Wrangling &amp; Pulizia Dati:     25 Punti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• Integrazione &amp; Consolidamento:      20 Punti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• Accuratezza Calcoli e KPI:          20 Punti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• Visualizzazione e Storytelling:     20 Punti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• Qualità Codice e Struttura PEP 8:   15 Punti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----------------------------------------------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TOTALE:                              100 Punti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Livello Eccellente: 90-100 Punti | Sufficienza: 60 Punti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PROJECT WORK FINALE &amp; VALUTAZIONE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Sessione di Sviluppo Guidato e Supporto in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73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💻 Lavoro Pratico Autonomo (2 Ore)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Gli studenti lavorano attivamente sullo script del Project Work.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Il docente effettua code review in tempo reale e fornisce suggerimenti di troubleshooting.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Verifica intermedia dei totali contabili: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Totale record master a 4 filiali: esattamente 4.700 righe pulite.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Fatturato nazionale consolidato: oltre 16.4 Milioni di Euro.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Salvataggio dei grafici di benchmark in formato PNG ad alta definizione.</a:t>
            </a:r>
          </a:p>
        </p:txBody>
      </p:sp>
      <p:pic>
        <p:nvPicPr>
          <p:cNvPr id="9" name="Picture 8" descr="pw_trend_mensile_4filia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PROJECT WORK FINALE &amp; VALUTAZIONE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Presentazione Risultati: Benchmark Nazionale a 4 Filiali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74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0F2942"/>
                </a:solidFill>
                <a:latin typeface="Trebuchet MS"/>
              </a:defRPr>
            </a:pPr>
            <a:r>
              <a:t>📊 Risposte ai Quesiti di Business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1. Quote Nazionali: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Milano: € 5.385k (32.7%) | Roma: € 4.143k (25.1%)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Napoli: € 3.852k (23.4%) | Torino: € 3.098k (18.8%)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2. Performance Napoli: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Categoria Top: Hardware (€ 2.233k) con 3.012 pezzi venduti.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• Canale Top: Partner Commerciale (€ 1.118k, ticket medio € 3.855).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3. La filiale di Napoli si attesta come 3° polo commerciale nazionale.</a:t>
            </a:r>
          </a:p>
        </p:txBody>
      </p:sp>
      <p:pic>
        <p:nvPicPr>
          <p:cNvPr id="9" name="Picture 8" descr="pw_heatmap_filiale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8E5"/>
                </a:solidFill>
                <a:latin typeface="Trebuchet MS"/>
              </a:defRPr>
            </a:pPr>
            <a:r>
              <a:t>PROJECT WORK FINALE &amp; VALUTAZIONE (3H)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Soluzione Docente, Certificazione &amp; Chiusura Corso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ITIS Campobasso • Docente: Arnaldo Morena • 22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2942"/>
                </a:solidFill>
                <a:latin typeface="Arial"/>
              </a:defRPr>
            </a:pPr>
            <a:r>
              <a:t>75 /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  <a:latin typeface="Trebuchet MS"/>
              </a:defRPr>
            </a:pPr>
            <a:r>
              <a:t>🏆 Competenze Certificate Raggiunte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1. Python Operativo: Funzioni, calcolo KPI, normalizzazione dati.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2. Pandas Mastery: Indicizzazione, filtri, calcoli vettoriali.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3. Data Wrangling: Deduplica, date complesse, imputazione, merge.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4. Visual Storytelling: Matplotlib, Seaborn, cruscotti 2x2 a 300 DPI.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5. Pipeline Engineering: ETL automatico con Apache Parquet.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6. Web Analytics: Dashboard interattiva Streamlit con simulatore What-If.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7. DevOps Foundation: Deploy Linux con Systemd 24/7.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🎓 Prossimi Passi &amp; Materiali d'Aula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Tutto il materiale rimane a vostra disposizione sul repository GitHub: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🔗 https://github.com/arnymore/python_analisi_dati_campobasso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Soluzione ufficiale di riferimento: project_work/soluzione_project_work.py.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Manuale di approfondimento: dispensa/indice_dispensa.md.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Congratulazioni a tutti i partecipanti per l'eccellente lavoro svolto!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